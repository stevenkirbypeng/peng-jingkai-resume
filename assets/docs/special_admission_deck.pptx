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7"/>
  </p:notesMasterIdLst>
  <p:sldIdLst>
    <p:sldId id="309" r:id="rId2"/>
    <p:sldId id="326" r:id="rId3"/>
    <p:sldId id="327" r:id="rId4"/>
    <p:sldId id="311" r:id="rId5"/>
    <p:sldId id="320" r:id="rId6"/>
    <p:sldId id="349" r:id="rId7"/>
    <p:sldId id="341" r:id="rId8"/>
    <p:sldId id="346" r:id="rId9"/>
    <p:sldId id="345" r:id="rId10"/>
    <p:sldId id="348" r:id="rId11"/>
    <p:sldId id="331" r:id="rId12"/>
    <p:sldId id="333" r:id="rId13"/>
    <p:sldId id="330" r:id="rId14"/>
    <p:sldId id="340" r:id="rId15"/>
    <p:sldId id="338" r:id="rId16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FC"/>
    <a:srgbClr val="FFE8A5"/>
    <a:srgbClr val="FFFDB3"/>
    <a:srgbClr val="FFD9FF"/>
    <a:srgbClr val="517D21"/>
    <a:srgbClr val="9E9A0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93" autoAdjust="0"/>
    <p:restoredTop sz="94660"/>
  </p:normalViewPr>
  <p:slideViewPr>
    <p:cSldViewPr snapToGrid="0">
      <p:cViewPr>
        <p:scale>
          <a:sx n="75" d="100"/>
          <a:sy n="75" d="100"/>
        </p:scale>
        <p:origin x="13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A0C703-169F-483C-A866-D6456366BA7E}" type="doc">
      <dgm:prSet loTypeId="urn:microsoft.com/office/officeart/2005/8/layout/hChevron3" loCatId="process" qsTypeId="urn:microsoft.com/office/officeart/2005/8/quickstyle/simple3" qsCatId="simple" csTypeId="urn:microsoft.com/office/officeart/2005/8/colors/colorful5" csCatId="colorful" phldr="1"/>
      <dgm:spPr/>
    </dgm:pt>
    <dgm:pt modelId="{2D95EFDC-EC75-4097-AF7E-85C7171C70B9}">
      <dgm:prSet phldrT="[文字]" custT="1"/>
      <dgm:spPr/>
      <dgm:t>
        <a:bodyPr>
          <a:sp3d extrusionH="57150">
            <a:bevelT w="38100" h="38100"/>
          </a:sp3d>
        </a:bodyPr>
        <a:lstStyle/>
        <a:p>
          <a:pPr algn="ctr"/>
          <a:r>
            <a:rPr lang="zh-TW" altLang="en-US" sz="2400" b="1" cap="none" spc="0" dirty="0" smtClean="0">
              <a:ln w="22225">
                <a:prstDash val="solid"/>
              </a:ln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</a:rPr>
            <a:t>嘉大附小</a:t>
          </a:r>
          <a:endParaRPr lang="zh-TW" altLang="en-US" sz="2400" b="1" cap="none" spc="0" dirty="0">
            <a:ln w="22225">
              <a:prstDash val="solid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gm:t>
    </dgm:pt>
    <dgm:pt modelId="{A9DAB2C7-B153-4FC9-8E04-0AFA6BAF1FAB}" type="parTrans" cxnId="{E12AD472-4926-4BBE-9468-43AB50D7FF14}">
      <dgm:prSet/>
      <dgm:spPr/>
      <dgm:t>
        <a:bodyPr/>
        <a:lstStyle/>
        <a:p>
          <a:pPr algn="ctr"/>
          <a:endParaRPr lang="zh-TW" altLang="en-US" sz="2400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gm:t>
    </dgm:pt>
    <dgm:pt modelId="{E27807B4-26D4-42DC-9816-C481333660BE}" type="sibTrans" cxnId="{E12AD472-4926-4BBE-9468-43AB50D7FF14}">
      <dgm:prSet/>
      <dgm:spPr/>
      <dgm:t>
        <a:bodyPr/>
        <a:lstStyle/>
        <a:p>
          <a:pPr algn="ctr"/>
          <a:endParaRPr lang="zh-TW" altLang="en-US" sz="2400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gm:t>
    </dgm:pt>
    <dgm:pt modelId="{A5429981-819C-4E4E-9915-6372DA04113A}">
      <dgm:prSet phldrT="[文字]" custT="1"/>
      <dgm:spPr/>
      <dgm:t>
        <a:bodyPr>
          <a:sp3d extrusionH="57150">
            <a:bevelT w="38100" h="38100"/>
          </a:sp3d>
        </a:bodyPr>
        <a:lstStyle/>
        <a:p>
          <a:pPr algn="ctr"/>
          <a:r>
            <a:rPr lang="zh-TW" altLang="en-US" sz="2400" b="1" cap="none" spc="0" dirty="0" smtClean="0">
              <a:ln w="22225">
                <a:prstDash val="solid"/>
              </a:ln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</a:rPr>
            <a:t>北興國中</a:t>
          </a:r>
          <a:endParaRPr lang="zh-TW" altLang="en-US" sz="2400" b="1" cap="none" spc="0" dirty="0">
            <a:ln w="22225">
              <a:prstDash val="solid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gm:t>
    </dgm:pt>
    <dgm:pt modelId="{63FA15D2-54E9-4AC5-B398-01266B689670}" type="parTrans" cxnId="{5D28B877-473E-4174-AB3A-DE330B8FA878}">
      <dgm:prSet/>
      <dgm:spPr/>
      <dgm:t>
        <a:bodyPr/>
        <a:lstStyle/>
        <a:p>
          <a:pPr algn="ctr"/>
          <a:endParaRPr lang="zh-TW" altLang="en-US" sz="2400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gm:t>
    </dgm:pt>
    <dgm:pt modelId="{0EB6DFB3-0E1D-4DB4-9AD3-BCB0342BF402}" type="sibTrans" cxnId="{5D28B877-473E-4174-AB3A-DE330B8FA878}">
      <dgm:prSet/>
      <dgm:spPr/>
      <dgm:t>
        <a:bodyPr/>
        <a:lstStyle/>
        <a:p>
          <a:pPr algn="ctr"/>
          <a:endParaRPr lang="zh-TW" altLang="en-US" sz="2400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gm:t>
    </dgm:pt>
    <dgm:pt modelId="{472E7984-D31D-4271-912C-F3F8AB75735C}">
      <dgm:prSet phldrT="[文字]" custT="1"/>
      <dgm:spPr/>
      <dgm:t>
        <a:bodyPr>
          <a:sp3d extrusionH="57150">
            <a:bevelT w="38100" h="38100"/>
          </a:sp3d>
        </a:bodyPr>
        <a:lstStyle/>
        <a:p>
          <a:pPr algn="ctr"/>
          <a:r>
            <a:rPr lang="zh-TW" altLang="en-US" sz="2400" b="1" cap="none" spc="0" dirty="0" smtClean="0">
              <a:ln w="22225">
                <a:prstDash val="solid"/>
              </a:ln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</a:rPr>
            <a:t>嘉義高中</a:t>
          </a:r>
          <a:endParaRPr lang="zh-TW" altLang="en-US" sz="2400" b="1" cap="none" spc="0" dirty="0">
            <a:ln w="22225">
              <a:prstDash val="solid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gm:t>
    </dgm:pt>
    <dgm:pt modelId="{4CF51FAB-E339-468F-B099-D1E4985B2D07}" type="parTrans" cxnId="{044C6671-DAC7-4B9C-9C8D-3D5BCE0E0EC8}">
      <dgm:prSet/>
      <dgm:spPr/>
      <dgm:t>
        <a:bodyPr/>
        <a:lstStyle/>
        <a:p>
          <a:pPr algn="ctr"/>
          <a:endParaRPr lang="zh-TW" altLang="en-US" sz="2400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gm:t>
    </dgm:pt>
    <dgm:pt modelId="{D82AC38E-27CC-4645-9A8D-2F1481A51F42}" type="sibTrans" cxnId="{044C6671-DAC7-4B9C-9C8D-3D5BCE0E0EC8}">
      <dgm:prSet/>
      <dgm:spPr/>
      <dgm:t>
        <a:bodyPr/>
        <a:lstStyle/>
        <a:p>
          <a:pPr algn="ctr"/>
          <a:endParaRPr lang="zh-TW" altLang="en-US" sz="2400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gm:t>
    </dgm:pt>
    <dgm:pt modelId="{A01962C4-04B1-4425-AA93-729C0E134A9B}" type="pres">
      <dgm:prSet presAssocID="{FEA0C703-169F-483C-A866-D6456366BA7E}" presName="Name0" presStyleCnt="0">
        <dgm:presLayoutVars>
          <dgm:dir/>
          <dgm:resizeHandles val="exact"/>
        </dgm:presLayoutVars>
      </dgm:prSet>
      <dgm:spPr/>
    </dgm:pt>
    <dgm:pt modelId="{8576C180-A83D-4EA2-B52E-DCD6840E4B09}" type="pres">
      <dgm:prSet presAssocID="{2D95EFDC-EC75-4097-AF7E-85C7171C70B9}" presName="parTxOnly" presStyleLbl="node1" presStyleIdx="0" presStyleCnt="3" custScaleX="106137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E4E1DC8-9EC3-473E-9415-ACBB03BD3FC2}" type="pres">
      <dgm:prSet presAssocID="{E27807B4-26D4-42DC-9816-C481333660BE}" presName="parSpace" presStyleCnt="0"/>
      <dgm:spPr/>
    </dgm:pt>
    <dgm:pt modelId="{1594C524-4E5E-4B44-B5EF-9DAB0BA64A64}" type="pres">
      <dgm:prSet presAssocID="{A5429981-819C-4E4E-9915-6372DA04113A}" presName="parTxOnly" presStyleLbl="node1" presStyleIdx="1" presStyleCnt="3" custScaleX="12585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5598424-B738-4959-A34C-61C6E7E4AB0E}" type="pres">
      <dgm:prSet presAssocID="{0EB6DFB3-0E1D-4DB4-9AD3-BCB0342BF402}" presName="parSpace" presStyleCnt="0"/>
      <dgm:spPr/>
    </dgm:pt>
    <dgm:pt modelId="{F381A000-943C-4BD0-86FB-F29AA92E903E}" type="pres">
      <dgm:prSet presAssocID="{472E7984-D31D-4271-912C-F3F8AB75735C}" presName="parTxOnly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5D28B877-473E-4174-AB3A-DE330B8FA878}" srcId="{FEA0C703-169F-483C-A866-D6456366BA7E}" destId="{A5429981-819C-4E4E-9915-6372DA04113A}" srcOrd="1" destOrd="0" parTransId="{63FA15D2-54E9-4AC5-B398-01266B689670}" sibTransId="{0EB6DFB3-0E1D-4DB4-9AD3-BCB0342BF402}"/>
    <dgm:cxn modelId="{9B19A047-A91A-47B0-BD65-A0636EF12CA8}" type="presOf" srcId="{472E7984-D31D-4271-912C-F3F8AB75735C}" destId="{F381A000-943C-4BD0-86FB-F29AA92E903E}" srcOrd="0" destOrd="0" presId="urn:microsoft.com/office/officeart/2005/8/layout/hChevron3"/>
    <dgm:cxn modelId="{6091BF7B-2596-4124-9DEA-2F2E1921362B}" type="presOf" srcId="{2D95EFDC-EC75-4097-AF7E-85C7171C70B9}" destId="{8576C180-A83D-4EA2-B52E-DCD6840E4B09}" srcOrd="0" destOrd="0" presId="urn:microsoft.com/office/officeart/2005/8/layout/hChevron3"/>
    <dgm:cxn modelId="{044C6671-DAC7-4B9C-9C8D-3D5BCE0E0EC8}" srcId="{FEA0C703-169F-483C-A866-D6456366BA7E}" destId="{472E7984-D31D-4271-912C-F3F8AB75735C}" srcOrd="2" destOrd="0" parTransId="{4CF51FAB-E339-468F-B099-D1E4985B2D07}" sibTransId="{D82AC38E-27CC-4645-9A8D-2F1481A51F42}"/>
    <dgm:cxn modelId="{62FDB2DE-4891-4703-9FB5-B538FF7043CD}" type="presOf" srcId="{FEA0C703-169F-483C-A866-D6456366BA7E}" destId="{A01962C4-04B1-4425-AA93-729C0E134A9B}" srcOrd="0" destOrd="0" presId="urn:microsoft.com/office/officeart/2005/8/layout/hChevron3"/>
    <dgm:cxn modelId="{97543C2D-DC0C-415C-A332-6740890C91D5}" type="presOf" srcId="{A5429981-819C-4E4E-9915-6372DA04113A}" destId="{1594C524-4E5E-4B44-B5EF-9DAB0BA64A64}" srcOrd="0" destOrd="0" presId="urn:microsoft.com/office/officeart/2005/8/layout/hChevron3"/>
    <dgm:cxn modelId="{E12AD472-4926-4BBE-9468-43AB50D7FF14}" srcId="{FEA0C703-169F-483C-A866-D6456366BA7E}" destId="{2D95EFDC-EC75-4097-AF7E-85C7171C70B9}" srcOrd="0" destOrd="0" parTransId="{A9DAB2C7-B153-4FC9-8E04-0AFA6BAF1FAB}" sibTransId="{E27807B4-26D4-42DC-9816-C481333660BE}"/>
    <dgm:cxn modelId="{680023BF-8322-4419-8960-9B2E4F0F2198}" type="presParOf" srcId="{A01962C4-04B1-4425-AA93-729C0E134A9B}" destId="{8576C180-A83D-4EA2-B52E-DCD6840E4B09}" srcOrd="0" destOrd="0" presId="urn:microsoft.com/office/officeart/2005/8/layout/hChevron3"/>
    <dgm:cxn modelId="{D8C77B77-7299-421B-8CCA-EEA72329C867}" type="presParOf" srcId="{A01962C4-04B1-4425-AA93-729C0E134A9B}" destId="{2E4E1DC8-9EC3-473E-9415-ACBB03BD3FC2}" srcOrd="1" destOrd="0" presId="urn:microsoft.com/office/officeart/2005/8/layout/hChevron3"/>
    <dgm:cxn modelId="{BF1DB32D-DC66-4BB5-94A1-6B87540CF4D0}" type="presParOf" srcId="{A01962C4-04B1-4425-AA93-729C0E134A9B}" destId="{1594C524-4E5E-4B44-B5EF-9DAB0BA64A64}" srcOrd="2" destOrd="0" presId="urn:microsoft.com/office/officeart/2005/8/layout/hChevron3"/>
    <dgm:cxn modelId="{5546165B-479E-4874-BECB-A7D3CAB32E64}" type="presParOf" srcId="{A01962C4-04B1-4425-AA93-729C0E134A9B}" destId="{55598424-B738-4959-A34C-61C6E7E4AB0E}" srcOrd="3" destOrd="0" presId="urn:microsoft.com/office/officeart/2005/8/layout/hChevron3"/>
    <dgm:cxn modelId="{4AE37F86-6ED1-4877-B74F-0333E321FB71}" type="presParOf" srcId="{A01962C4-04B1-4425-AA93-729C0E134A9B}" destId="{F381A000-943C-4BD0-86FB-F29AA92E903E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76C180-A83D-4EA2-B52E-DCD6840E4B09}">
      <dsp:nvSpPr>
        <dsp:cNvPr id="0" name=""/>
        <dsp:cNvSpPr/>
      </dsp:nvSpPr>
      <dsp:spPr>
        <a:xfrm>
          <a:off x="3436" y="0"/>
          <a:ext cx="4419268" cy="641356"/>
        </a:xfrm>
        <a:prstGeom prst="homePlat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64008" rIns="32004" bIns="64008" numCol="1" spcCol="1270" anchor="ctr" anchorCtr="0">
          <a:noAutofit/>
          <a:sp3d extrusionH="57150">
            <a:bevelT w="38100" h="38100"/>
          </a:sp3d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cap="none" spc="0" dirty="0" smtClean="0">
              <a:ln w="22225">
                <a:prstDash val="solid"/>
              </a:ln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</a:rPr>
            <a:t>嘉大附小</a:t>
          </a:r>
          <a:endParaRPr lang="zh-TW" altLang="en-US" sz="2400" b="1" kern="1200" cap="none" spc="0" dirty="0">
            <a:ln w="22225">
              <a:prstDash val="solid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sp:txBody>
      <dsp:txXfrm>
        <a:off x="3436" y="0"/>
        <a:ext cx="4258929" cy="641356"/>
      </dsp:txXfrm>
    </dsp:sp>
    <dsp:sp modelId="{1594C524-4E5E-4B44-B5EF-9DAB0BA64A64}">
      <dsp:nvSpPr>
        <dsp:cNvPr id="0" name=""/>
        <dsp:cNvSpPr/>
      </dsp:nvSpPr>
      <dsp:spPr>
        <a:xfrm>
          <a:off x="3589957" y="0"/>
          <a:ext cx="5240150" cy="641356"/>
        </a:xfrm>
        <a:prstGeom prst="chevron">
          <a:avLst/>
        </a:prstGeom>
        <a:gradFill rotWithShape="0">
          <a:gsLst>
            <a:gs pos="0">
              <a:schemeClr val="accent5">
                <a:hueOff val="1628513"/>
                <a:satOff val="5598"/>
                <a:lumOff val="-26863"/>
                <a:alphaOff val="0"/>
                <a:tint val="50000"/>
                <a:satMod val="300000"/>
              </a:schemeClr>
            </a:gs>
            <a:gs pos="35000">
              <a:schemeClr val="accent5">
                <a:hueOff val="1628513"/>
                <a:satOff val="5598"/>
                <a:lumOff val="-26863"/>
                <a:alphaOff val="0"/>
                <a:tint val="37000"/>
                <a:satMod val="300000"/>
              </a:schemeClr>
            </a:gs>
            <a:gs pos="100000">
              <a:schemeClr val="accent5">
                <a:hueOff val="1628513"/>
                <a:satOff val="5598"/>
                <a:lumOff val="-2686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6012" tIns="64008" rIns="32004" bIns="64008" numCol="1" spcCol="1270" anchor="ctr" anchorCtr="0">
          <a:noAutofit/>
          <a:sp3d extrusionH="57150">
            <a:bevelT w="38100" h="38100"/>
          </a:sp3d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cap="none" spc="0" dirty="0" smtClean="0">
              <a:ln w="22225">
                <a:prstDash val="solid"/>
              </a:ln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</a:rPr>
            <a:t>北興國中</a:t>
          </a:r>
          <a:endParaRPr lang="zh-TW" altLang="en-US" sz="2400" b="1" kern="1200" cap="none" spc="0" dirty="0">
            <a:ln w="22225">
              <a:prstDash val="solid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sp:txBody>
      <dsp:txXfrm>
        <a:off x="3910635" y="0"/>
        <a:ext cx="4598794" cy="641356"/>
      </dsp:txXfrm>
    </dsp:sp>
    <dsp:sp modelId="{F381A000-943C-4BD0-86FB-F29AA92E903E}">
      <dsp:nvSpPr>
        <dsp:cNvPr id="0" name=""/>
        <dsp:cNvSpPr/>
      </dsp:nvSpPr>
      <dsp:spPr>
        <a:xfrm>
          <a:off x="7997359" y="0"/>
          <a:ext cx="4163740" cy="641356"/>
        </a:xfrm>
        <a:prstGeom prst="chevron">
          <a:avLst/>
        </a:prstGeom>
        <a:gradFill rotWithShape="0">
          <a:gsLst>
            <a:gs pos="0">
              <a:schemeClr val="accent5">
                <a:hueOff val="3257026"/>
                <a:satOff val="11196"/>
                <a:lumOff val="-53726"/>
                <a:alphaOff val="0"/>
                <a:tint val="50000"/>
                <a:satMod val="300000"/>
              </a:schemeClr>
            </a:gs>
            <a:gs pos="35000">
              <a:schemeClr val="accent5">
                <a:hueOff val="3257026"/>
                <a:satOff val="11196"/>
                <a:lumOff val="-53726"/>
                <a:alphaOff val="0"/>
                <a:tint val="37000"/>
                <a:satMod val="300000"/>
              </a:schemeClr>
            </a:gs>
            <a:gs pos="100000">
              <a:schemeClr val="accent5">
                <a:hueOff val="3257026"/>
                <a:satOff val="11196"/>
                <a:lumOff val="-5372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6012" tIns="64008" rIns="32004" bIns="64008" numCol="1" spcCol="1270" anchor="ctr" anchorCtr="0">
          <a:noAutofit/>
          <a:sp3d extrusionH="57150">
            <a:bevelT w="38100" h="38100"/>
          </a:sp3d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cap="none" spc="0" dirty="0" smtClean="0">
              <a:ln w="22225">
                <a:prstDash val="solid"/>
              </a:ln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</a:rPr>
            <a:t>嘉義高中</a:t>
          </a:r>
          <a:endParaRPr lang="zh-TW" altLang="en-US" sz="2400" b="1" kern="1200" cap="none" spc="0" dirty="0">
            <a:ln w="22225">
              <a:prstDash val="solid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a:endParaRPr>
        </a:p>
      </dsp:txBody>
      <dsp:txXfrm>
        <a:off x="8318037" y="0"/>
        <a:ext cx="3522384" cy="641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646FDD8-A8D9-4D08-8BA6-51BFA3F8A016}" type="datetimeFigureOut">
              <a:rPr lang="zh-TW" altLang="en-US" smtClean="0"/>
              <a:t>2023/11/14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1BE323D-3081-4250-8F82-C96460992C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450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752725" y="533400"/>
            <a:ext cx="4729163" cy="266065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478">
              <a:defRPr/>
            </a:pPr>
            <a:fld id="{8E895E65-E604-4641-B940-20B7670123E0}" type="slidenum">
              <a:rPr lang="zh-TW" altLang="en-US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pPr defTabSz="990478">
                <a:defRPr/>
              </a:pPr>
              <a:t>1</a:t>
            </a:fld>
            <a:endParaRPr lang="zh-TW" altLang="en-US" dirty="0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5687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6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804763" indent="-309524" eaLnBrk="0" hangingPunct="0">
              <a:defRPr kumimoji="1" sz="26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238098" indent="-247620" eaLnBrk="0" hangingPunct="0">
              <a:defRPr kumimoji="1" sz="26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733337" indent="-247620" eaLnBrk="0" hangingPunct="0">
              <a:defRPr kumimoji="1" sz="26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228576" indent="-247620" eaLnBrk="0" hangingPunct="0">
              <a:defRPr kumimoji="1" sz="26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/>
            <a:fld id="{F45E02C7-8CE7-4522-AABE-B23630F880FB}" type="slidenum">
              <a:rPr lang="en-US" altLang="zh-TW" sz="1400"/>
              <a:pPr eaLnBrk="1" hangingPunct="1"/>
              <a:t>4</a:t>
            </a:fld>
            <a:endParaRPr lang="en-US" altLang="zh-TW" sz="140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147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新細明體" charset="-120"/>
              </a:defRPr>
            </a:lvl1pPr>
          </a:lstStyle>
          <a:p>
            <a:pPr>
              <a:defRPr/>
            </a:pPr>
            <a:fld id="{0DBA58CA-8B37-4421-8E6F-0811302D686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0298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新細明體" charset="-120"/>
              </a:defRPr>
            </a:lvl1pPr>
          </a:lstStyle>
          <a:p>
            <a:pPr>
              <a:defRPr/>
            </a:pPr>
            <a:fld id="{FE095E9D-8933-424D-B279-B10FF7AD23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179643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新細明體" charset="-120"/>
              </a:defRPr>
            </a:lvl1pPr>
          </a:lstStyle>
          <a:p>
            <a:pPr>
              <a:defRPr/>
            </a:pPr>
            <a:fld id="{7FFEF56B-E48C-45FC-A13F-11EDAE0DDA5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6049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新細明體" charset="-120"/>
              </a:defRPr>
            </a:lvl1pPr>
          </a:lstStyle>
          <a:p>
            <a:pPr>
              <a:defRPr/>
            </a:pPr>
            <a:fld id="{EBF13538-CC16-4177-A603-27B32180624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2461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1487489" y="116639"/>
            <a:ext cx="9603275" cy="104923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923947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19FDD57D-CF05-4006-A34C-65A5174AB07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0" y="50030"/>
            <a:ext cx="778732" cy="78314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985" y="-28404"/>
            <a:ext cx="940015" cy="94001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508" y="5958348"/>
            <a:ext cx="1041492" cy="89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2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  <p:sldLayoutId id="2147483681" r:id="rId4"/>
    <p:sldLayoutId id="2147483718" r:id="rId5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1646" y="1523699"/>
            <a:ext cx="6520354" cy="3390584"/>
          </a:xfrm>
          <a:prstGeom prst="rect">
            <a:avLst/>
          </a:prstGeom>
        </p:spPr>
      </p:pic>
      <p:pic>
        <p:nvPicPr>
          <p:cNvPr id="7" name="圖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650663"/>
            <a:ext cx="6301409" cy="3136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0" name="文字方塊 9"/>
          <p:cNvSpPr txBox="1"/>
          <p:nvPr/>
        </p:nvSpPr>
        <p:spPr>
          <a:xfrm>
            <a:off x="3457433" y="5590572"/>
            <a:ext cx="5619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 altLang="zh-TW" sz="2400" b="1" dirty="0" smtClean="0">
              <a:solidFill>
                <a:prstClr val="black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defRPr/>
            </a:pPr>
            <a:r>
              <a:rPr lang="zh-TW" altLang="en-US" sz="2400" b="1" dirty="0" smtClean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國立</a:t>
            </a:r>
            <a:r>
              <a:rPr lang="zh-TW" altLang="en-US" sz="2400" b="1" dirty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嘉義高中數理資優</a:t>
            </a:r>
            <a:r>
              <a:rPr lang="zh-TW" altLang="en-US" sz="2400" b="1" dirty="0" smtClean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班三年</a:t>
            </a:r>
            <a:r>
              <a:rPr lang="zh-TW" altLang="en-US" sz="2400" b="1" dirty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級</a:t>
            </a:r>
            <a:endParaRPr lang="en-US" altLang="zh-TW" sz="2400" b="1" dirty="0">
              <a:solidFill>
                <a:prstClr val="black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defRPr/>
            </a:pPr>
            <a:endParaRPr lang="en-US" altLang="zh-TW" sz="2400" b="1" dirty="0" smtClean="0">
              <a:solidFill>
                <a:prstClr val="black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80900" y="12736"/>
            <a:ext cx="7213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44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成大電機特殊選才面試報告</a:t>
            </a:r>
            <a:endParaRPr kumimoji="1" lang="zh-TW" altLang="en-US" sz="44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57433" y="5394195"/>
            <a:ext cx="24304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sz="28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報告人</a:t>
            </a:r>
            <a:r>
              <a:rPr lang="en-US" altLang="zh-TW" sz="28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800" b="1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彭</a:t>
            </a:r>
            <a:r>
              <a:rPr lang="zh-TW" altLang="en-US" sz="28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靖</a:t>
            </a:r>
            <a:r>
              <a:rPr lang="zh-TW" altLang="en-US" sz="2800" b="1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凱</a:t>
            </a:r>
            <a:endParaRPr lang="en-US" altLang="zh-TW" sz="2800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109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67169" y="-66737"/>
            <a:ext cx="9454831" cy="828241"/>
          </a:xfrm>
        </p:spPr>
        <p:txBody>
          <a:bodyPr/>
          <a:lstStyle/>
          <a:p>
            <a:r>
              <a:rPr lang="zh-TW" altLang="en-US" dirty="0" smtClean="0"/>
              <a:t>前</a:t>
            </a:r>
            <a:r>
              <a:rPr lang="zh-TW" altLang="en-US" dirty="0"/>
              <a:t>言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920531"/>
            <a:ext cx="1219200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從小</a:t>
            </a:r>
            <a:r>
              <a:rPr lang="zh-TW" altLang="en-US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zh-TW" altLang="en-US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數理基礎學科學習</a:t>
            </a:r>
            <a:r>
              <a:rPr lang="zh-TW" altLang="en-US" sz="26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表現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出濃厚的興趣，</a:t>
            </a:r>
            <a:r>
              <a:rPr lang="zh-TW" altLang="en-US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同時</a:t>
            </a:r>
            <a:r>
              <a:rPr lang="zh-TW" altLang="en-US" sz="26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數理方</a:t>
            </a:r>
            <a:r>
              <a:rPr lang="zh-TW" altLang="en-US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</a:t>
            </a:r>
            <a:r>
              <a:rPr lang="zh-TW" altLang="en-US" sz="26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</a:t>
            </a:r>
            <a:r>
              <a:rPr lang="zh-TW" altLang="en-US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獲得不錯的成績</a:t>
            </a:r>
            <a:r>
              <a:rPr lang="zh-TW" altLang="en-US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，在</a:t>
            </a:r>
            <a:r>
              <a:rPr lang="zh-TW" altLang="en-US" sz="26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國中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en-US" sz="2600" b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高中</a:t>
            </a:r>
            <a:r>
              <a:rPr lang="zh-TW" altLang="en-US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也順利</a:t>
            </a:r>
            <a:r>
              <a:rPr lang="zh-TW" altLang="en-US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通過政府機關鑑定數理資優生</a:t>
            </a:r>
            <a:r>
              <a:rPr lang="zh-TW" altLang="en-US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6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TW" altLang="en-US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由於我</a:t>
            </a:r>
            <a:r>
              <a:rPr lang="zh-TW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的母親擁有</a:t>
            </a:r>
            <a:r>
              <a:rPr lang="zh-TW" altLang="en-US" sz="2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台大語言學博士學位</a:t>
            </a:r>
            <a:r>
              <a:rPr lang="zh-TW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，目前在國立大學外語系擔任教授，她的學術背景深厚。而我的父親則主要在業界工作，不過目前</a:t>
            </a:r>
            <a:r>
              <a:rPr lang="zh-TW" altLang="en-US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他是</a:t>
            </a:r>
            <a:r>
              <a:rPr lang="zh-TW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國立</a:t>
            </a:r>
            <a:r>
              <a:rPr lang="zh-TW" altLang="en-US" sz="26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成功大學</a:t>
            </a:r>
            <a:r>
              <a:rPr lang="zh-TW" altLang="en-US" sz="2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資工所博士班四年級學生</a:t>
            </a:r>
            <a:r>
              <a:rPr lang="zh-TW" altLang="en-US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父母</a:t>
            </a:r>
            <a:r>
              <a:rPr lang="zh-TW" altLang="en-US" sz="26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en-US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學術追求也深深影響了我</a:t>
            </a:r>
            <a:r>
              <a:rPr lang="zh-TW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</a:t>
            </a:r>
            <a:r>
              <a:rPr lang="zh-TW" altLang="en-US" sz="2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從小受到</a:t>
            </a:r>
            <a:r>
              <a:rPr lang="zh-TW" altLang="en-US" sz="2600" b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父母</a:t>
            </a:r>
            <a:r>
              <a:rPr lang="zh-TW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en-US" sz="2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老師</a:t>
            </a:r>
            <a:r>
              <a:rPr lang="zh-TW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en-US" sz="2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引導</a:t>
            </a:r>
            <a:r>
              <a:rPr lang="zh-TW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，就對</a:t>
            </a:r>
            <a:r>
              <a:rPr lang="zh-TW" altLang="en-US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跨領域軟硬體整合應用</a:t>
            </a:r>
            <a:r>
              <a:rPr lang="zh-TW" altLang="en-US" sz="26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</a:t>
            </a:r>
            <a:r>
              <a:rPr lang="zh-TW" altLang="en-US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充滿熱情</a:t>
            </a:r>
            <a:r>
              <a:rPr lang="zh-TW" altLang="en-US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600" dirty="0" smtClean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TW" altLang="en-US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此外 </a:t>
            </a:r>
            <a:r>
              <a:rPr lang="en-US" altLang="zh-TW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108 </a:t>
            </a:r>
            <a:r>
              <a:rPr lang="zh-TW" altLang="en-US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課綱的實施為我提供更多學術探索機會</a:t>
            </a:r>
            <a:r>
              <a:rPr lang="zh-TW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，我會針對</a:t>
            </a:r>
            <a:r>
              <a:rPr lang="zh-TW" altLang="en-US" sz="26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高中一些</a:t>
            </a:r>
            <a:r>
              <a:rPr lang="zh-TW" altLang="en-US" sz="26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學科自主學習相關議題跨學科或跨領域研究</a:t>
            </a:r>
            <a:r>
              <a:rPr lang="zh-TW" altLang="en-US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600" dirty="0" smtClean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TW" altLang="en-US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我也</a:t>
            </a:r>
            <a:r>
              <a:rPr lang="zh-TW" altLang="en-US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積極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參加</a:t>
            </a:r>
            <a:r>
              <a:rPr lang="zh-TW" altLang="en-US" sz="26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</a:t>
            </a:r>
            <a:r>
              <a:rPr lang="zh-TW" altLang="en-US" sz="26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</a:t>
            </a:r>
            <a:r>
              <a:rPr lang="zh-TW" altLang="en-US" sz="26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習</a:t>
            </a:r>
            <a:r>
              <a:rPr lang="zh-TW" altLang="en-US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營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以擴展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課本以外的知識領域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同時也</a:t>
            </a:r>
            <a:r>
              <a:rPr lang="zh-TW" altLang="en-US" sz="26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拓展了自己的</a:t>
            </a:r>
            <a:r>
              <a:rPr lang="zh-TW" altLang="en-US" sz="26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人際關係</a:t>
            </a:r>
            <a:r>
              <a:rPr lang="zh-TW" altLang="en-US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55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056" y="981137"/>
            <a:ext cx="3552968" cy="559907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67169" y="-66737"/>
            <a:ext cx="9454831" cy="828241"/>
          </a:xfrm>
        </p:spPr>
        <p:txBody>
          <a:bodyPr/>
          <a:lstStyle/>
          <a:p>
            <a:r>
              <a:rPr lang="zh-TW" altLang="en-US" dirty="0" smtClean="0"/>
              <a:t>大</a:t>
            </a:r>
            <a:r>
              <a:rPr lang="zh-TW" altLang="en-US" dirty="0"/>
              <a:t>綱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1397608"/>
            <a:ext cx="121635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嘉中數資班</a:t>
            </a:r>
            <a:r>
              <a:rPr lang="zh-TW" altLang="zh-TW" sz="3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數理相關科目成績</a:t>
            </a:r>
            <a:r>
              <a:rPr lang="zh-TW" altLang="en-US" sz="3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表現</a:t>
            </a:r>
            <a:endParaRPr lang="en-US" altLang="zh-TW" sz="3200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3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跨領域及軟硬體整合應用研究</a:t>
            </a:r>
            <a:r>
              <a:rPr lang="en-US" altLang="zh-TW" sz="3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3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含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競賽成果</a:t>
            </a:r>
            <a:r>
              <a:rPr lang="en-US" altLang="zh-TW" sz="3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3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自主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學習高中學科相關議題跨學科或跨領域研究</a:t>
            </a:r>
            <a:r>
              <a:rPr lang="zh-TW" altLang="en-US" sz="3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探討</a:t>
            </a:r>
            <a:endParaRPr lang="en-US" altLang="zh-TW" sz="32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課外研習營成果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ea1ChtPeriod"/>
            </a:pP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83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Rectangle 10"/>
          <p:cNvSpPr>
            <a:spLocks noGrp="1" noChangeArrowheads="1"/>
          </p:cNvSpPr>
          <p:nvPr>
            <p:ph type="title"/>
          </p:nvPr>
        </p:nvSpPr>
        <p:spPr>
          <a:xfrm>
            <a:off x="1309182" y="45432"/>
            <a:ext cx="9213088" cy="766480"/>
          </a:xfrm>
        </p:spPr>
        <p:txBody>
          <a:bodyPr/>
          <a:lstStyle/>
          <a:p>
            <a:pPr eaLnBrk="1" hangingPunct="1"/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嘉中數資班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數理相關科目成績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表現</a:t>
            </a: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系所參考資料</a:t>
            </a:r>
            <a:r>
              <a:rPr lang="en-US" altLang="zh-TW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1_</a:t>
            </a:r>
            <a:r>
              <a:rPr lang="zh-TW" altLang="en-US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彭靖凱高中歷年在校成績證明</a:t>
            </a:r>
            <a:r>
              <a:rPr lang="en-US" altLang="zh-TW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1800" b="1" dirty="0" smtClean="0"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523" y="930822"/>
            <a:ext cx="121920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300"/>
              </a:spcAft>
              <a:buFont typeface="+mj-ea"/>
              <a:buAutoNum type="ea1ChtPeriod"/>
            </a:pPr>
            <a:r>
              <a:rPr lang="zh-TW" altLang="zh-TW" sz="20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國中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zh-TW" sz="20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高中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順利</a:t>
            </a:r>
            <a:r>
              <a:rPr lang="zh-TW" altLang="zh-TW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通過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政府機關鑑定</a:t>
            </a:r>
            <a:r>
              <a:rPr lang="zh-TW" altLang="zh-TW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數理資優生</a:t>
            </a:r>
            <a:r>
              <a:rPr lang="zh-TW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鑑定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</a:t>
            </a:r>
            <a:r>
              <a:rPr lang="zh-TW" alt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圖</a:t>
            </a:r>
            <a:r>
              <a:rPr lang="zh-TW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Font typeface="+mj-ea"/>
              <a:buAutoNum type="ea1ChtPeriod"/>
            </a:pPr>
            <a:r>
              <a:rPr lang="zh-TW" altLang="zh-TW" sz="2000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高一</a:t>
            </a:r>
            <a:r>
              <a:rPr lang="zh-TW" altLang="zh-TW" sz="2000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數學</a:t>
            </a:r>
            <a:r>
              <a:rPr lang="zh-TW" altLang="en-US" sz="2000" u="sng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000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高二數</a:t>
            </a:r>
            <a:r>
              <a:rPr lang="en-US" altLang="zh-TW" sz="2000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zh-TW" altLang="zh-TW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上下學期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en-US" sz="2000" u="sng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獨立研究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高一高二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四個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學期</a:t>
            </a: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成績</a:t>
            </a:r>
            <a:r>
              <a:rPr lang="zh-TW" altLang="zh-TW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</a:t>
            </a:r>
            <a:r>
              <a:rPr lang="zh-TW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zh-TW" altLang="en-US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數理資優班皆為</a:t>
            </a:r>
            <a:r>
              <a:rPr lang="zh-TW" altLang="en-US" sz="2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zh-TW" altLang="en-US" sz="2000" b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zh-TW" altLang="en-US" sz="2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名</a:t>
            </a:r>
            <a:r>
              <a:rPr lang="en-US" altLang="zh-TW" sz="2000" dirty="0" smtClean="0">
                <a:solidFill>
                  <a:srgbClr val="202124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dirty="0" smtClean="0">
                <a:solidFill>
                  <a:srgbClr val="202124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/30) </a:t>
            </a:r>
          </a:p>
          <a:p>
            <a:pPr marL="342900" indent="-342900">
              <a:spcAft>
                <a:spcPts val="300"/>
              </a:spcAft>
              <a:buFont typeface="+mj-ea"/>
              <a:buAutoNum type="ea1ChtPeriod"/>
            </a:pPr>
            <a:r>
              <a:rPr lang="zh-TW" altLang="en-US" sz="2000" u="sng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科學探究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，</a:t>
            </a:r>
            <a:r>
              <a:rPr lang="zh-TW" altLang="en-US" sz="2000" u="sng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科技化學實驗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，</a:t>
            </a:r>
            <a:r>
              <a:rPr lang="zh-TW" altLang="en-US" sz="2000" u="sng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生物探究</a:t>
            </a: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成績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zh-TW" altLang="en-US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數理資優班皆為</a:t>
            </a:r>
            <a:r>
              <a:rPr lang="zh-TW" altLang="en-US" sz="2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zh-TW" altLang="en-US" sz="2000" b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zh-TW" altLang="en-US" sz="2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名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/30)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Font typeface="+mj-ea"/>
              <a:buAutoNum type="ea1ChtPeriod"/>
            </a:pPr>
            <a:r>
              <a:rPr lang="zh-TW" altLang="zh-TW" sz="20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物理</a:t>
            </a:r>
            <a:r>
              <a:rPr lang="zh-TW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高二</a:t>
            </a:r>
            <a:r>
              <a:rPr lang="zh-TW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</a:t>
            </a:r>
            <a:r>
              <a:rPr lang="zh-TW" altLang="en-US" sz="2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第六名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/30)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0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化學</a:t>
            </a:r>
            <a:r>
              <a:rPr lang="zh-TW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高二</a:t>
            </a:r>
            <a:r>
              <a:rPr lang="zh-TW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</a:t>
            </a:r>
            <a:r>
              <a:rPr lang="zh-TW" altLang="en-US" sz="2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第四名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/30)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en-US" sz="20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資訊科技</a:t>
            </a:r>
            <a:r>
              <a:rPr lang="en-US" altLang="zh-TW" sz="20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C++</a:t>
            </a:r>
            <a:r>
              <a:rPr lang="zh-TW" altLang="en-US" sz="20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20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APCS</a:t>
            </a:r>
            <a:r>
              <a:rPr lang="en-US" altLang="zh-TW" sz="20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第五名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/30)</a:t>
            </a:r>
            <a:r>
              <a:rPr lang="zh-TW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如表</a:t>
            </a:r>
            <a:r>
              <a:rPr lang="zh-TW" altLang="zh-TW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所示</a:t>
            </a:r>
            <a:endParaRPr lang="en-US" altLang="zh-TW" sz="2000" b="1" dirty="0" smtClean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Font typeface="+mj-ea"/>
              <a:buAutoNum type="ea1ChtPeriod"/>
            </a:pP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其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他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成績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</a:t>
            </a:r>
            <a:r>
              <a:rPr lang="zh-TW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附件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_</a:t>
            </a:r>
            <a:r>
              <a:rPr lang="zh-TW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高中</a:t>
            </a:r>
            <a:r>
              <a:rPr lang="zh-TW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歷年在校成績證明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000" dirty="0"/>
          </a:p>
        </p:txBody>
      </p:sp>
      <p:grpSp>
        <p:nvGrpSpPr>
          <p:cNvPr id="4" name="群組 3"/>
          <p:cNvGrpSpPr/>
          <p:nvPr/>
        </p:nvGrpSpPr>
        <p:grpSpPr>
          <a:xfrm>
            <a:off x="-8261" y="3545681"/>
            <a:ext cx="3855116" cy="2650163"/>
            <a:chOff x="8221736" y="1404085"/>
            <a:chExt cx="4198512" cy="3322196"/>
          </a:xfrm>
        </p:grpSpPr>
        <p:grpSp>
          <p:nvGrpSpPr>
            <p:cNvPr id="18" name="群組 17"/>
            <p:cNvGrpSpPr/>
            <p:nvPr/>
          </p:nvGrpSpPr>
          <p:grpSpPr>
            <a:xfrm>
              <a:off x="8681107" y="1404085"/>
              <a:ext cx="3739141" cy="2983642"/>
              <a:chOff x="551822" y="3518669"/>
              <a:chExt cx="4248115" cy="2921638"/>
            </a:xfrm>
          </p:grpSpPr>
          <p:pic>
            <p:nvPicPr>
              <p:cNvPr id="19" name="圖片 18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1822" y="3518669"/>
                <a:ext cx="2057380" cy="2921637"/>
              </a:xfrm>
              <a:prstGeom prst="rect">
                <a:avLst/>
              </a:prstGeom>
            </p:spPr>
          </p:pic>
          <p:pic>
            <p:nvPicPr>
              <p:cNvPr id="20" name="圖片 1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9203" y="3518670"/>
                <a:ext cx="2190734" cy="2921637"/>
              </a:xfrm>
              <a:prstGeom prst="rect">
                <a:avLst/>
              </a:prstGeom>
            </p:spPr>
          </p:pic>
        </p:grpSp>
        <p:sp>
          <p:nvSpPr>
            <p:cNvPr id="17" name="矩形 16"/>
            <p:cNvSpPr/>
            <p:nvPr/>
          </p:nvSpPr>
          <p:spPr>
            <a:xfrm>
              <a:off x="8221736" y="4387727"/>
              <a:ext cx="408316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6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圖一</a:t>
              </a:r>
              <a:r>
                <a:rPr lang="zh-TW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、</a:t>
              </a:r>
              <a:r>
                <a:rPr lang="zh-TW" altLang="en-US" sz="16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國中</a:t>
              </a:r>
              <a:r>
                <a:rPr lang="zh-TW" altLang="en-US" sz="16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與高中數理資優生鑑定字號證明</a:t>
              </a:r>
              <a:endParaRPr lang="zh-TW" altLang="en-US" sz="1600" b="1" dirty="0"/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4028798" y="2776826"/>
            <a:ext cx="8062815" cy="4085594"/>
            <a:chOff x="4129185" y="2759664"/>
            <a:chExt cx="8062815" cy="4085594"/>
          </a:xfrm>
        </p:grpSpPr>
        <p:sp>
          <p:nvSpPr>
            <p:cNvPr id="14" name="矩形 13"/>
            <p:cNvSpPr/>
            <p:nvPr/>
          </p:nvSpPr>
          <p:spPr>
            <a:xfrm>
              <a:off x="4129185" y="2759664"/>
              <a:ext cx="8031366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zh-TW" sz="1700" b="1" kern="0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表</a:t>
              </a:r>
              <a:r>
                <a:rPr lang="zh-TW" altLang="zh-TW" sz="1700" b="1" kern="0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一</a:t>
              </a:r>
              <a:r>
                <a:rPr lang="zh-TW" altLang="en-US" sz="1700" b="1" kern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、</a:t>
              </a:r>
              <a:r>
                <a:rPr lang="zh-TW" altLang="zh-TW" sz="1700" b="1" kern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高一</a:t>
              </a:r>
              <a:r>
                <a:rPr lang="zh-TW" altLang="zh-TW" sz="1700" b="1" kern="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高</a:t>
              </a:r>
              <a:r>
                <a:rPr lang="zh-TW" altLang="zh-TW" sz="1700" b="1" kern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二</a:t>
              </a:r>
              <a:r>
                <a:rPr lang="zh-TW" altLang="en-US" sz="1700" b="1" kern="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各</a:t>
              </a:r>
              <a:r>
                <a:rPr lang="zh-TW" altLang="en-US" sz="1700" b="1" kern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學期與</a:t>
              </a:r>
              <a:r>
                <a:rPr lang="zh-TW" altLang="zh-TW" sz="1700" b="1" kern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數理</a:t>
              </a:r>
              <a:r>
                <a:rPr lang="zh-TW" altLang="zh-TW" sz="1700" b="1" kern="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相關科目</a:t>
              </a:r>
              <a:r>
                <a:rPr lang="zh-TW" altLang="zh-TW" sz="1700" b="1" kern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成績</a:t>
              </a:r>
              <a:r>
                <a:rPr lang="en-US" altLang="zh-TW" sz="1700" b="1" kern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zh-TW" sz="17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資料來源</a:t>
              </a:r>
              <a:r>
                <a:rPr lang="en-US" altLang="zh-TW" sz="17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:</a:t>
              </a:r>
              <a:r>
                <a:rPr lang="zh-TW" altLang="zh-TW" sz="1700" b="1" dirty="0" smtClean="0">
                  <a:solidFill>
                    <a:srgbClr val="7030A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附件</a:t>
              </a:r>
              <a:r>
                <a:rPr lang="zh-TW" altLang="zh-TW" sz="17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高中歷年在校成績證明</a:t>
              </a:r>
              <a:r>
                <a:rPr lang="en-US" altLang="zh-TW" sz="17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zh-TW" sz="17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>
                <a:spcAft>
                  <a:spcPts val="0"/>
                </a:spcAft>
              </a:pPr>
              <a:endParaRPr lang="zh-TW" altLang="zh-TW" sz="1700" b="1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pic>
          <p:nvPicPr>
            <p:cNvPr id="23" name="圖片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35417" y="3114123"/>
              <a:ext cx="3856583" cy="1549349"/>
            </a:xfrm>
            <a:prstGeom prst="rect">
              <a:avLst/>
            </a:prstGeom>
          </p:spPr>
        </p:pic>
        <p:pic>
          <p:nvPicPr>
            <p:cNvPr id="24" name="圖片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38475" y="3114122"/>
              <a:ext cx="4115781" cy="3731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857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8631" y="-146742"/>
            <a:ext cx="8601391" cy="955040"/>
          </a:xfrm>
        </p:spPr>
        <p:txBody>
          <a:bodyPr/>
          <a:lstStyle/>
          <a:p>
            <a:r>
              <a:rPr lang="zh-TW" altLang="en-US" sz="3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跨領域及軟硬體整合應用</a:t>
            </a:r>
            <a:r>
              <a:rPr lang="zh-TW" altLang="en-US" sz="3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</a:t>
            </a:r>
            <a:r>
              <a:rPr lang="en-US" altLang="zh-TW" sz="3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en-US" altLang="zh-TW" sz="3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系所參考資</a:t>
            </a:r>
            <a:r>
              <a:rPr lang="zh-TW" altLang="en-US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料</a:t>
            </a:r>
            <a:r>
              <a:rPr lang="en-US" altLang="zh-TW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4_</a:t>
            </a:r>
            <a:r>
              <a:rPr lang="zh-TW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競賽成果成果作品證明</a:t>
            </a: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1800" dirty="0"/>
          </a:p>
        </p:txBody>
      </p:sp>
      <p:sp>
        <p:nvSpPr>
          <p:cNvPr id="21" name="矩形 20"/>
          <p:cNvSpPr/>
          <p:nvPr/>
        </p:nvSpPr>
        <p:spPr>
          <a:xfrm>
            <a:off x="2" y="754270"/>
            <a:ext cx="121920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spcAft>
                <a:spcPts val="600"/>
              </a:spcAft>
            </a:pP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在目前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與大數據的時代，程式設計是非常重要的基本能力與工具</a:t>
            </a:r>
            <a:r>
              <a:rPr lang="zh-TW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zh-TW" altLang="zh-TW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國小</a:t>
            </a:r>
            <a:r>
              <a:rPr lang="zh-TW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開始學習</a:t>
            </a:r>
            <a:r>
              <a:rPr lang="en-US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Scratch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國中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一年級的時候，學校針對</a:t>
            </a:r>
            <a:r>
              <a:rPr lang="zh-TW" altLang="zh-TW" b="1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資優生開設一學年的</a:t>
            </a:r>
            <a:r>
              <a:rPr lang="en-US" altLang="zh-TW" b="1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</a:t>
            </a:r>
            <a:r>
              <a:rPr lang="zh-TW" altLang="zh-TW" b="1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</a:t>
            </a:r>
            <a:r>
              <a:rPr lang="zh-TW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設計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課程與</a:t>
            </a:r>
            <a:r>
              <a:rPr lang="zh-TW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高中數理資優班高一</a:t>
            </a:r>
            <a:r>
              <a:rPr lang="en-US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C++</a:t>
            </a:r>
            <a:r>
              <a:rPr lang="zh-TW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課程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。也因此</a:t>
            </a:r>
            <a:r>
              <a:rPr lang="zh-TW" altLang="zh-TW" b="1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建立我基本的程式能力</a:t>
            </a:r>
            <a:r>
              <a:rPr lang="zh-TW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kern="1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>
              <a:spcAft>
                <a:spcPts val="600"/>
              </a:spcAft>
            </a:pPr>
            <a:r>
              <a:rPr lang="zh-TW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zh-TW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國小在父母與師長的引導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下，</a:t>
            </a:r>
            <a:r>
              <a:rPr lang="zh-TW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zh-TW" altLang="en-US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全方位</a:t>
            </a:r>
            <a:r>
              <a:rPr lang="zh-TW" altLang="en-US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</a:t>
            </a:r>
            <a:r>
              <a:rPr lang="zh-TW" altLang="zh-TW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領域</a:t>
            </a:r>
            <a:r>
              <a:rPr lang="zh-TW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學習與嘗試的態度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</a:t>
            </a:r>
            <a:r>
              <a:rPr lang="zh-TW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相關程式設計結合</a:t>
            </a:r>
            <a:r>
              <a:rPr lang="en-US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zh-TW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科技</a:t>
            </a:r>
            <a:r>
              <a:rPr lang="zh-TW" altLang="en-US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跨</a:t>
            </a:r>
            <a:r>
              <a:rPr lang="zh-TW" altLang="zh-TW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領域及軟硬體之整合應用研究</a:t>
            </a:r>
            <a:r>
              <a:rPr lang="zh-TW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kern="1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>
              <a:spcAft>
                <a:spcPts val="600"/>
              </a:spcAft>
            </a:pP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小學到高中，我</a:t>
            </a:r>
            <a:r>
              <a:rPr lang="zh-TW" altLang="en-US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嘗試跨域技術研究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包括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圖形化程式設計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VC++ MFC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 </a:t>
            </a:r>
            <a:r>
              <a:rPr lang="en-US" altLang="zh-TW" kern="1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Tkinter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機電軟硬體整合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C++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Raspberry Pi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Arduino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）、</a:t>
            </a:r>
            <a:r>
              <a:rPr lang="zh-TW" altLang="en-US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物聯網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通訊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AIOT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機器人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電腦視覺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電腦圖學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自然語言處理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（斷詞、分詞、實名標記（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NER)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機器學習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 </a:t>
            </a:r>
            <a:r>
              <a:rPr lang="en-US" altLang="zh-TW" kern="1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scikit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-learn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中的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Regression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KNN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SVM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深度學習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（多層感知器（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Multilayer Perceptron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）、卷積神經網路（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Convolutional Neural Network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kern="10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kern="10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網路爬蟲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辨識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STT)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語音合成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TTS)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物體辨識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圖片描述</a:t>
            </a:r>
            <a:r>
              <a:rPr lang="en-US" altLang="zh-TW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Image Captioning)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雙語翻譯等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。並且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這些</a:t>
            </a:r>
            <a:r>
              <a:rPr lang="zh-TW" altLang="en-US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核心技術應用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</a:t>
            </a:r>
            <a:r>
              <a:rPr lang="zh-TW" altLang="en-US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en-US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自主學習研究</a:t>
            </a:r>
            <a:r>
              <a:rPr lang="zh-TW" altLang="en-US" b="1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歷程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</a:t>
            </a:r>
            <a:r>
              <a:rPr lang="zh-TW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如表</a:t>
            </a:r>
            <a:r>
              <a:rPr lang="zh-TW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二所示。</a:t>
            </a:r>
            <a:endParaRPr lang="en-US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83772"/>
              </p:ext>
            </p:extLst>
          </p:nvPr>
        </p:nvGraphicFramePr>
        <p:xfrm>
          <a:off x="2" y="4079988"/>
          <a:ext cx="12115798" cy="2567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668">
                  <a:extLst>
                    <a:ext uri="{9D8B030D-6E8A-4147-A177-3AD203B41FA5}">
                      <a16:colId xmlns:a16="http://schemas.microsoft.com/office/drawing/2014/main" val="157795673"/>
                    </a:ext>
                  </a:extLst>
                </a:gridCol>
                <a:gridCol w="1758108">
                  <a:extLst>
                    <a:ext uri="{9D8B030D-6E8A-4147-A177-3AD203B41FA5}">
                      <a16:colId xmlns:a16="http://schemas.microsoft.com/office/drawing/2014/main" val="2115196762"/>
                    </a:ext>
                  </a:extLst>
                </a:gridCol>
                <a:gridCol w="9528022">
                  <a:extLst>
                    <a:ext uri="{9D8B030D-6E8A-4147-A177-3AD203B41FA5}">
                      <a16:colId xmlns:a16="http://schemas.microsoft.com/office/drawing/2014/main" val="3694200320"/>
                    </a:ext>
                  </a:extLst>
                </a:gridCol>
              </a:tblGrid>
              <a:tr h="3947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種類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項目</a:t>
                      </a:r>
                      <a:endParaRPr lang="zh-TW" altLang="en-US" sz="2000" b="1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核心技術</a:t>
                      </a:r>
                      <a:endParaRPr lang="zh-TW" altLang="en-US" sz="2000" b="1" dirty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395277"/>
                  </a:ext>
                </a:extLst>
              </a:tr>
              <a:tr h="361827">
                <a:tc rowSpan="2">
                  <a:txBody>
                    <a:bodyPr/>
                    <a:lstStyle/>
                    <a:p>
                      <a:endParaRPr lang="en-US" altLang="zh-TW" sz="1600" b="1" u="none" kern="1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TW" altLang="en-US" sz="1600" b="1" u="none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競賽</a:t>
                      </a:r>
                      <a:endParaRPr lang="zh-TW" altLang="en-US" sz="1600" b="1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err="1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1600" dirty="0" err="1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houd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機器人研發</a:t>
                      </a:r>
                      <a:endParaRPr lang="en-US" altLang="zh-TW" sz="1600" dirty="0" smtClean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 kern="1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圖形化程式設計、機電軟硬體整合、物聯網通訊、機器人、電腦視覺、電腦圖學、深度學習、物體辨識</a:t>
                      </a:r>
                      <a:endParaRPr lang="zh-TW" altLang="en-US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681746"/>
                  </a:ext>
                </a:extLst>
              </a:tr>
              <a:tr h="361827">
                <a:tc vMerge="1">
                  <a:txBody>
                    <a:bodyPr/>
                    <a:lstStyle/>
                    <a:p>
                      <a:endParaRPr lang="zh-TW" altLang="en-US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err="1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SpeakGrader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研發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 kern="1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圖形化程式設計、機器學習、網路爬蟲、自然語言處理、語音辨識、語音合成、雙語翻譯、圖片描述</a:t>
                      </a:r>
                      <a:endParaRPr lang="zh-TW" altLang="en-US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00474"/>
                  </a:ext>
                </a:extLst>
              </a:tr>
              <a:tr h="361827">
                <a:tc rowSpan="4">
                  <a:txBody>
                    <a:bodyPr/>
                    <a:lstStyle/>
                    <a:p>
                      <a:endParaRPr lang="en-US" altLang="zh-TW" sz="1600" b="1" u="none" kern="1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TW" altLang="en-US" sz="1600" b="1" u="none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自主學習研究</a:t>
                      </a:r>
                      <a:endParaRPr lang="zh-TW" altLang="en-US" sz="1600" b="1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數學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高一</a:t>
                      </a:r>
                      <a:r>
                        <a:rPr lang="zh-TW" altLang="en-US" sz="16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理工類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 kern="10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機器學習</a:t>
                      </a:r>
                      <a:r>
                        <a:rPr lang="en-US" altLang="zh-TW" sz="1600" b="1" kern="10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Regression</a:t>
                      </a:r>
                      <a:endParaRPr lang="zh-TW" altLang="en-US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402103"/>
                  </a:ext>
                </a:extLst>
              </a:tr>
              <a:tr h="361827">
                <a:tc vMerge="1">
                  <a:txBody>
                    <a:bodyPr/>
                    <a:lstStyle/>
                    <a:p>
                      <a:endParaRPr lang="zh-TW" altLang="en-US" sz="2000" b="1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物理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高二</a:t>
                      </a:r>
                      <a:r>
                        <a:rPr lang="zh-TW" altLang="en-US" sz="16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理工類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 smtClean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 kern="1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圖形化程式設計、電腦圖學、</a:t>
                      </a:r>
                      <a:r>
                        <a:rPr lang="en-US" altLang="zh-TW" sz="1600" b="1" kern="100" dirty="0" err="1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ChatGPT</a:t>
                      </a:r>
                      <a:endParaRPr lang="zh-TW" altLang="en-US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448741"/>
                  </a:ext>
                </a:extLst>
              </a:tr>
              <a:tr h="361827">
                <a:tc vMerge="1">
                  <a:txBody>
                    <a:bodyPr/>
                    <a:lstStyle/>
                    <a:p>
                      <a:endParaRPr lang="zh-TW" altLang="en-US" sz="2000" b="1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版畫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高一</a:t>
                      </a:r>
                      <a:r>
                        <a:rPr lang="zh-TW" altLang="en-US" sz="16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藝術類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 kern="1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圖形化程式設計、電腦視覺影像處理、電腦圖學、</a:t>
                      </a:r>
                      <a:r>
                        <a:rPr lang="en-US" altLang="zh-TW" sz="1600" b="0" kern="1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lang="zh-TW" altLang="en-US" sz="1600" b="0" kern="1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列印材料成型</a:t>
                      </a:r>
                      <a:r>
                        <a:rPr lang="en-US" altLang="zh-TW" sz="1600" b="0" kern="1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600" b="0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FDM</a:t>
                      </a:r>
                      <a:r>
                        <a:rPr lang="zh-TW" altLang="en-US" sz="1600" b="0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熱融堆疊</a:t>
                      </a:r>
                      <a:r>
                        <a:rPr lang="zh-TW" altLang="en-US" sz="1600" b="0" kern="1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與光固化材料成型</a:t>
                      </a:r>
                      <a:r>
                        <a:rPr lang="en-US" altLang="zh-TW" sz="1600" b="0" kern="1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754873"/>
                  </a:ext>
                </a:extLst>
              </a:tr>
              <a:tr h="361827">
                <a:tc vMerge="1">
                  <a:txBody>
                    <a:bodyPr/>
                    <a:lstStyle/>
                    <a:p>
                      <a:endParaRPr lang="zh-TW" altLang="en-US" sz="1600" b="1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英文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高二</a:t>
                      </a:r>
                      <a:r>
                        <a:rPr lang="zh-TW" altLang="en-US" sz="16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人文類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圖形化程式設計、網路爬蟲、自然語言處理、語音辨識、語音合成、雙語翻譯、圖片描述</a:t>
                      </a:r>
                      <a:endParaRPr lang="zh-TW" altLang="en-US" sz="16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561190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693474" y="3741434"/>
            <a:ext cx="71865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</a:t>
            </a:r>
            <a:r>
              <a:rPr lang="zh-TW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競賽與自主學習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研究相關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核心技術</a:t>
            </a: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應用列表</a:t>
            </a: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自行整理</a:t>
            </a: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691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8631" y="-146742"/>
            <a:ext cx="8601391" cy="955040"/>
          </a:xfrm>
        </p:spPr>
        <p:txBody>
          <a:bodyPr/>
          <a:lstStyle/>
          <a:p>
            <a:r>
              <a:rPr lang="zh-TW" altLang="en-US" sz="3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跨領域及軟硬體整合應用</a:t>
            </a:r>
            <a:r>
              <a:rPr lang="zh-TW" altLang="en-US" sz="3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</a:t>
            </a:r>
            <a:r>
              <a:rPr lang="en-US" altLang="zh-TW" sz="3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_</a:t>
            </a:r>
            <a:r>
              <a:rPr lang="zh-TW" altLang="en-US" sz="3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競賽成果</a:t>
            </a:r>
            <a:r>
              <a:rPr lang="en-US" altLang="zh-TW" sz="3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en-US" altLang="zh-TW" sz="3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系所參考資</a:t>
            </a:r>
            <a:r>
              <a:rPr lang="zh-TW" altLang="en-US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料</a:t>
            </a:r>
            <a:r>
              <a:rPr lang="en-US" altLang="zh-TW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4_</a:t>
            </a:r>
            <a:r>
              <a:rPr lang="zh-TW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競賽成果成果作品證明</a:t>
            </a: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1800" dirty="0"/>
          </a:p>
        </p:txBody>
      </p:sp>
      <p:sp>
        <p:nvSpPr>
          <p:cNvPr id="21" name="矩形 20"/>
          <p:cNvSpPr/>
          <p:nvPr/>
        </p:nvSpPr>
        <p:spPr>
          <a:xfrm>
            <a:off x="0" y="808298"/>
            <a:ext cx="118292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綜合上述</a:t>
            </a:r>
            <a:r>
              <a:rPr lang="zh-TW" altLang="en-US" sz="2000" b="1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學業成績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en-US" sz="20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跨領領域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技術</a:t>
            </a:r>
            <a:r>
              <a:rPr lang="zh-TW" altLang="en-US" sz="2000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我在</a:t>
            </a:r>
            <a:r>
              <a:rPr lang="zh-TW" altLang="zh-TW" sz="2000" u="sng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數學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以及</a:t>
            </a:r>
            <a:r>
              <a:rPr lang="zh-TW" altLang="zh-TW" sz="2000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專</a:t>
            </a:r>
            <a:r>
              <a:rPr lang="zh-TW" altLang="en-US" sz="2000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題</a:t>
            </a:r>
            <a:r>
              <a:rPr lang="zh-TW" altLang="zh-TW" sz="2000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不錯表現，並獲得了一些獎項，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</a:t>
            </a:r>
            <a:r>
              <a:rPr lang="zh-TW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競賽歷程如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</a:t>
            </a:r>
            <a:r>
              <a:rPr lang="zh-TW" altLang="zh-TW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所示</a:t>
            </a:r>
            <a:endParaRPr lang="zh-TW" altLang="zh-TW" sz="2400" b="1" kern="1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資料庫圖表 2"/>
          <p:cNvGraphicFramePr/>
          <p:nvPr>
            <p:extLst>
              <p:ext uri="{D42A27DB-BD31-4B8C-83A1-F6EECF244321}">
                <p14:modId xmlns:p14="http://schemas.microsoft.com/office/powerpoint/2010/main" val="601853063"/>
              </p:ext>
            </p:extLst>
          </p:nvPr>
        </p:nvGraphicFramePr>
        <p:xfrm>
          <a:off x="27464" y="1577739"/>
          <a:ext cx="12164536" cy="641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矩形 6"/>
          <p:cNvSpPr/>
          <p:nvPr/>
        </p:nvSpPr>
        <p:spPr>
          <a:xfrm>
            <a:off x="918906" y="2300673"/>
            <a:ext cx="2143970" cy="923330"/>
          </a:xfrm>
          <a:prstGeom prst="rect">
            <a:avLst/>
          </a:prstGeom>
          <a:solidFill>
            <a:srgbClr val="FFD9FF"/>
          </a:solidFill>
          <a:ln>
            <a:solidFill>
              <a:srgbClr val="FFD5FC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zh-TW" altLang="zh-TW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嘉義市</a:t>
            </a:r>
            <a:endParaRPr lang="en-US" altLang="zh-TW" dirty="0" smtClean="0">
              <a:solidFill>
                <a:srgbClr val="00206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科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展化學科</a:t>
            </a:r>
            <a:endParaRPr lang="en-US" altLang="zh-TW" dirty="0" smtClean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zh-TW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佳作</a:t>
            </a:r>
            <a:endParaRPr lang="zh-TW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14108" y="3513113"/>
            <a:ext cx="2124943" cy="923330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全國</a:t>
            </a:r>
            <a:endParaRPr lang="en-US" altLang="zh-TW" dirty="0" smtClean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奧林匹克</a:t>
            </a:r>
            <a:r>
              <a: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數學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六年級</a:t>
            </a:r>
            <a:r>
              <a:rPr lang="zh-TW" altLang="zh-TW" b="1" dirty="0" smtClean="0">
                <a:solidFill>
                  <a:srgbClr val="FFFDB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三等獎</a:t>
            </a:r>
            <a:endParaRPr lang="zh-TW" altLang="en-US" b="1" dirty="0">
              <a:solidFill>
                <a:srgbClr val="FFFDB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01094" y="3639629"/>
            <a:ext cx="2836463" cy="923330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全國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奧林匹克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數學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七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年級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 </a:t>
            </a:r>
            <a:r>
              <a:rPr lang="zh-TW" altLang="zh-TW" b="1" dirty="0" smtClean="0">
                <a:solidFill>
                  <a:srgbClr val="FFFDB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三等獎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40569" y="2256655"/>
            <a:ext cx="2796988" cy="1200329"/>
          </a:xfrm>
          <a:prstGeom prst="rect">
            <a:avLst/>
          </a:prstGeom>
          <a:solidFill>
            <a:srgbClr val="FFD9FF"/>
          </a:solidFill>
          <a:ln>
            <a:solidFill>
              <a:srgbClr val="FFD5FC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zh-TW" altLang="zh-TW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嘉義市</a:t>
            </a:r>
            <a:endParaRPr lang="en-US" altLang="zh-TW" dirty="0" smtClean="0">
              <a:solidFill>
                <a:srgbClr val="00206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科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展</a:t>
            </a:r>
            <a:endParaRPr lang="en-US" altLang="zh-TW" dirty="0" smtClean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b="1" dirty="0" smtClean="0"/>
              <a:t>(</a:t>
            </a:r>
            <a:r>
              <a:rPr lang="zh-TW" altLang="zh-TW" b="1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機電與資訊組</a:t>
            </a:r>
            <a:r>
              <a:rPr lang="en-US" altLang="zh-TW" b="1" dirty="0"/>
              <a:t>)</a:t>
            </a:r>
            <a:endParaRPr lang="en-US" altLang="zh-TW" dirty="0" smtClean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</a:t>
            </a:r>
            <a:r>
              <a:rPr lang="zh-TW" altLang="zh-TW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</a:t>
            </a:r>
            <a:r>
              <a:rPr lang="zh-TW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暨</a:t>
            </a:r>
            <a:r>
              <a:rPr lang="zh-TW" altLang="zh-TW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探究精神獎</a:t>
            </a:r>
            <a:endParaRPr lang="zh-TW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60582" y="4742650"/>
            <a:ext cx="2836463" cy="1477328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全國</a:t>
            </a:r>
            <a:endParaRPr lang="en-US" altLang="zh-TW" dirty="0" smtClean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教育部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國教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署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科技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教育創意實作競賽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dirty="0">
                <a:solidFill>
                  <a:srgbClr val="FFE8A5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機電整合組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全國決賽</a:t>
            </a:r>
            <a:r>
              <a:rPr lang="zh-TW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佳作</a:t>
            </a:r>
            <a:endParaRPr lang="en-US" altLang="zh-TW" dirty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209721" y="2292756"/>
            <a:ext cx="3806687" cy="923330"/>
          </a:xfrm>
          <a:prstGeom prst="rect">
            <a:avLst/>
          </a:prstGeom>
          <a:solidFill>
            <a:srgbClr val="517D21"/>
          </a:solidFill>
          <a:ln>
            <a:solidFill>
              <a:srgbClr val="FFD5FC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校內</a:t>
            </a:r>
            <a:endParaRPr lang="en-US" altLang="zh-TW" dirty="0" smtClean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zh-TW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自主</a:t>
            </a:r>
            <a:r>
              <a:rPr lang="zh-TW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學習原領域</a:t>
            </a:r>
            <a:r>
              <a:rPr lang="zh-TW" altLang="zh-TW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發表</a:t>
            </a:r>
            <a:endParaRPr lang="en-US" altLang="zh-TW" dirty="0" smtClean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優等</a:t>
            </a:r>
            <a:r>
              <a:rPr lang="zh-TW" altLang="zh-TW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獎</a:t>
            </a:r>
            <a:endParaRPr lang="zh-TW" alt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209721" y="3289747"/>
            <a:ext cx="3851099" cy="1200329"/>
          </a:xfrm>
          <a:prstGeom prst="rect">
            <a:avLst/>
          </a:prstGeom>
          <a:solidFill>
            <a:srgbClr val="517D21"/>
          </a:solidFill>
          <a:ln>
            <a:solidFill>
              <a:srgbClr val="FFD5FC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r>
              <a:rPr lang="zh-TW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校內</a:t>
            </a:r>
            <a:r>
              <a:rPr lang="zh-TW" altLang="en-US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數學科</a:t>
            </a:r>
            <a:r>
              <a: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能力</a:t>
            </a:r>
            <a:r>
              <a:rPr lang="zh-TW" altLang="en-US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</a:t>
            </a:r>
            <a:endParaRPr lang="en-US" altLang="zh-TW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甲等</a:t>
            </a:r>
            <a:r>
              <a: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en-US" dirty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全校第</a:t>
            </a:r>
            <a:r>
              <a:rPr lang="en-US" altLang="zh-TW" dirty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dirty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</a:t>
            </a:r>
            <a:r>
              <a:rPr lang="zh-TW" altLang="en-US" dirty="0" smtClean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全年級</a:t>
            </a:r>
            <a:r>
              <a:rPr lang="zh-TW" altLang="en-US" dirty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dirty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 smtClean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</a:t>
            </a:r>
            <a:endParaRPr lang="en-US" altLang="zh-TW" dirty="0" smtClean="0">
              <a:solidFill>
                <a:srgbClr val="FFFDB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校內</a:t>
            </a:r>
            <a:r>
              <a:rPr lang="zh-TW" altLang="en-US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化</a:t>
            </a:r>
            <a:r>
              <a: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學科能力</a:t>
            </a:r>
            <a:r>
              <a:rPr lang="zh-TW" altLang="en-US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</a:t>
            </a:r>
            <a:endParaRPr lang="en-US" altLang="zh-TW" dirty="0" smtClean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特優</a:t>
            </a:r>
            <a:r>
              <a:rPr lang="zh-TW" altLang="en-US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</a:t>
            </a:r>
            <a:r>
              <a: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en-US" dirty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全校第</a:t>
            </a:r>
            <a:r>
              <a:rPr lang="en-US" altLang="zh-TW" dirty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dirty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名全年級第</a:t>
            </a:r>
            <a:r>
              <a:rPr lang="en-US" altLang="zh-TW" dirty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dirty="0" smtClean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 </a:t>
            </a:r>
            <a:endParaRPr lang="zh-TW" altLang="en-US" dirty="0">
              <a:solidFill>
                <a:srgbClr val="FFFDB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13468" y="4725685"/>
            <a:ext cx="3764291" cy="923330"/>
          </a:xfrm>
          <a:prstGeom prst="rect">
            <a:avLst/>
          </a:prstGeom>
          <a:solidFill>
            <a:srgbClr val="FFD9FF"/>
          </a:solidFill>
          <a:ln>
            <a:solidFill>
              <a:srgbClr val="FFD5FC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zh-TW" altLang="zh-TW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嘉義縣市</a:t>
            </a:r>
            <a:endParaRPr lang="en-US" altLang="zh-TW" dirty="0" smtClean="0">
              <a:solidFill>
                <a:srgbClr val="00206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旭日東昇盃】數學</a:t>
            </a:r>
            <a:r>
              <a:rPr lang="zh-TW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</a:t>
            </a:r>
            <a:endParaRPr lang="en-US" altLang="zh-TW" dirty="0" smtClean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zh-TW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銀牌</a:t>
            </a:r>
            <a:r>
              <a:rPr lang="zh-TW" altLang="zh-TW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獎</a:t>
            </a:r>
            <a:endParaRPr lang="zh-TW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194472" y="5792330"/>
            <a:ext cx="3802284" cy="1015663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TW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全國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第旺宏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科學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獎作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”</a:t>
            </a:r>
            <a:r>
              <a:rPr lang="en-US" altLang="zh-TW" b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SpeakGrader</a:t>
            </a:r>
            <a:r>
              <a:rPr lang="zh-TW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：客製化英語口語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自動分級評量與回饋學習系統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”</a:t>
            </a:r>
            <a:r>
              <a:rPr lang="zh-TW" altLang="zh-TW" b="1" dirty="0">
                <a:solidFill>
                  <a:srgbClr val="FFFDB3"/>
                </a:solidFill>
              </a:rPr>
              <a:t>資訊</a:t>
            </a:r>
            <a:r>
              <a:rPr lang="zh-TW" altLang="zh-TW" b="1" dirty="0" smtClean="0">
                <a:solidFill>
                  <a:srgbClr val="FFFDB3"/>
                </a:solidFill>
              </a:rPr>
              <a:t>組</a:t>
            </a:r>
            <a:r>
              <a:rPr lang="zh-TW" altLang="en-US" b="1" dirty="0" smtClean="0"/>
              <a:t> </a:t>
            </a:r>
            <a:r>
              <a:rPr lang="zh-TW" altLang="en-US" sz="2400" b="1" dirty="0" smtClean="0">
                <a:solidFill>
                  <a:srgbClr val="FFFDB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未得</a:t>
            </a:r>
            <a:r>
              <a:rPr lang="zh-TW" altLang="zh-TW" sz="2400" b="1" dirty="0">
                <a:solidFill>
                  <a:srgbClr val="FFFDB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獎</a:t>
            </a:r>
            <a:endParaRPr lang="en-US" altLang="zh-TW" sz="2400" dirty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9856" y="5838497"/>
            <a:ext cx="1441310" cy="461665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TW" alt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全國</a:t>
            </a:r>
            <a:r>
              <a:rPr lang="zh-TW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</a:t>
            </a:r>
            <a:endParaRPr lang="zh-TW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7463" y="5250482"/>
            <a:ext cx="1463703" cy="461665"/>
          </a:xfrm>
          <a:prstGeom prst="rect">
            <a:avLst/>
          </a:prstGeom>
          <a:solidFill>
            <a:srgbClr val="FFD9FF"/>
          </a:solidFill>
          <a:ln>
            <a:solidFill>
              <a:srgbClr val="FFD5FC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zh-TW" altLang="zh-TW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縣市競賽</a:t>
            </a:r>
            <a:endParaRPr lang="zh-TW" altLang="en-US" sz="2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7463" y="4662468"/>
            <a:ext cx="1463703" cy="461665"/>
          </a:xfrm>
          <a:prstGeom prst="rect">
            <a:avLst/>
          </a:prstGeom>
          <a:solidFill>
            <a:srgbClr val="517D21"/>
          </a:solidFill>
          <a:ln>
            <a:solidFill>
              <a:srgbClr val="FFD5FC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r>
              <a:rPr lang="zh-TW" altLang="en-US" sz="2400" dirty="0" smtClean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校內</a:t>
            </a:r>
            <a:r>
              <a:rPr lang="zh-TW" altLang="en-US" sz="2400" dirty="0">
                <a:solidFill>
                  <a:srgbClr val="FFFDB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</a:t>
            </a:r>
          </a:p>
        </p:txBody>
      </p:sp>
    </p:spTree>
    <p:extLst>
      <p:ext uri="{BB962C8B-B14F-4D97-AF65-F5344CB8AC3E}">
        <p14:creationId xmlns:p14="http://schemas.microsoft.com/office/powerpoint/2010/main" val="221285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58095" y="-96010"/>
            <a:ext cx="9595727" cy="955040"/>
          </a:xfrm>
        </p:spPr>
        <p:txBody>
          <a:bodyPr/>
          <a:lstStyle/>
          <a:p>
            <a:r>
              <a:rPr lang="zh-TW" altLang="en-US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客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製化互動式人機觸</a:t>
            </a:r>
            <a:r>
              <a:rPr lang="en-US" altLang="zh-TW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聲雙控介面之雲端智慧語音獵犬機器人</a:t>
            </a:r>
            <a:b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系所參考資料</a:t>
            </a:r>
            <a:r>
              <a:rPr lang="en-US" altLang="zh-TW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4_</a:t>
            </a:r>
            <a:r>
              <a:rPr lang="zh-TW" altLang="en-US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競賽成果成果作品</a:t>
            </a: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18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0"/>
            <a:ext cx="12089813" cy="3731893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009" y="788094"/>
            <a:ext cx="5295794" cy="205162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288" y="688418"/>
            <a:ext cx="3252486" cy="227157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038" y="963170"/>
            <a:ext cx="3476523" cy="187655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6901" y="3142984"/>
            <a:ext cx="990686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5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24589" y="-142415"/>
            <a:ext cx="10155715" cy="955040"/>
          </a:xfrm>
        </p:spPr>
        <p:txBody>
          <a:bodyPr/>
          <a:lstStyle/>
          <a:p>
            <a:r>
              <a:rPr lang="zh-TW" altLang="en-US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客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製化互動式人機觸</a:t>
            </a:r>
            <a:r>
              <a:rPr lang="en-US" altLang="zh-TW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聲雙控介面之雲端智慧語音獵犬</a:t>
            </a:r>
            <a:r>
              <a:rPr lang="zh-TW" altLang="en-US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機器人</a:t>
            </a:r>
            <a:r>
              <a:rPr lang="en-US" altLang="zh-TW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系所參考資料</a:t>
            </a:r>
            <a:r>
              <a:rPr lang="en-US" altLang="zh-TW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4_</a:t>
            </a:r>
            <a:r>
              <a:rPr lang="zh-TW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競賽成果成果作品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1800" dirty="0"/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568365"/>
            <a:ext cx="7287176" cy="333268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726" y="791122"/>
            <a:ext cx="5080847" cy="55435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30" y="739549"/>
            <a:ext cx="4022035" cy="17605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854" y="4280786"/>
            <a:ext cx="4523145" cy="1388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pic>
        <p:nvPicPr>
          <p:cNvPr id="8" name="圖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9730" y="5105698"/>
            <a:ext cx="4229413" cy="17271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" y="5095766"/>
            <a:ext cx="3390398" cy="17103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942" y="2593347"/>
            <a:ext cx="4117058" cy="15824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cxnSp>
        <p:nvCxnSpPr>
          <p:cNvPr id="14" name="直線單箭頭接點 13"/>
          <p:cNvCxnSpPr>
            <a:endCxn id="9" idx="0"/>
          </p:cNvCxnSpPr>
          <p:nvPr/>
        </p:nvCxnSpPr>
        <p:spPr bwMode="auto">
          <a:xfrm flipH="1">
            <a:off x="1703538" y="4934371"/>
            <a:ext cx="1674166" cy="16139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直線單箭頭接點 20"/>
          <p:cNvCxnSpPr/>
          <p:nvPr/>
        </p:nvCxnSpPr>
        <p:spPr bwMode="auto">
          <a:xfrm>
            <a:off x="7241100" y="3423920"/>
            <a:ext cx="833842" cy="84512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直線單箭頭接點 24"/>
          <p:cNvCxnSpPr/>
          <p:nvPr/>
        </p:nvCxnSpPr>
        <p:spPr bwMode="auto">
          <a:xfrm flipH="1" flipV="1">
            <a:off x="6593840" y="1345476"/>
            <a:ext cx="693336" cy="464164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直線單箭頭接點 28"/>
          <p:cNvCxnSpPr/>
          <p:nvPr/>
        </p:nvCxnSpPr>
        <p:spPr bwMode="auto">
          <a:xfrm flipV="1">
            <a:off x="7241100" y="3219273"/>
            <a:ext cx="833842" cy="64152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直線單箭頭接點 31"/>
          <p:cNvCxnSpPr>
            <a:endCxn id="8" idx="0"/>
          </p:cNvCxnSpPr>
          <p:nvPr/>
        </p:nvCxnSpPr>
        <p:spPr bwMode="auto">
          <a:xfrm>
            <a:off x="3577365" y="2722880"/>
            <a:ext cx="1987072" cy="238281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直線單箭頭接點 37"/>
          <p:cNvCxnSpPr>
            <a:endCxn id="8" idx="0"/>
          </p:cNvCxnSpPr>
          <p:nvPr/>
        </p:nvCxnSpPr>
        <p:spPr bwMode="auto">
          <a:xfrm>
            <a:off x="3911600" y="2306320"/>
            <a:ext cx="1652837" cy="279937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直線單箭頭接點 40"/>
          <p:cNvCxnSpPr/>
          <p:nvPr/>
        </p:nvCxnSpPr>
        <p:spPr bwMode="auto">
          <a:xfrm flipV="1">
            <a:off x="7241100" y="1388675"/>
            <a:ext cx="833842" cy="420966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8" name="圖片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345" y="5791200"/>
            <a:ext cx="4705654" cy="1014952"/>
          </a:xfrm>
          <a:prstGeom prst="rect">
            <a:avLst/>
          </a:prstGeom>
        </p:spPr>
      </p:pic>
      <p:cxnSp>
        <p:nvCxnSpPr>
          <p:cNvPr id="58" name="直線單箭頭接點 57"/>
          <p:cNvCxnSpPr/>
          <p:nvPr/>
        </p:nvCxnSpPr>
        <p:spPr bwMode="auto">
          <a:xfrm>
            <a:off x="7287176" y="4280786"/>
            <a:ext cx="356986" cy="1547523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8" name="圖片 67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74" y="667449"/>
            <a:ext cx="1828721" cy="721226"/>
          </a:xfrm>
          <a:prstGeom prst="rect">
            <a:avLst/>
          </a:prstGeom>
        </p:spPr>
      </p:pic>
      <p:sp>
        <p:nvSpPr>
          <p:cNvPr id="69" name="標題 1"/>
          <p:cNvSpPr txBox="1">
            <a:spLocks/>
          </p:cNvSpPr>
          <p:nvPr/>
        </p:nvSpPr>
        <p:spPr bwMode="auto">
          <a:xfrm>
            <a:off x="8074942" y="731410"/>
            <a:ext cx="4013164" cy="3510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9pPr>
          </a:lstStyle>
          <a:p>
            <a:r>
              <a:rPr lang="en-US" altLang="zh-TW" sz="1600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RGB</a:t>
            </a:r>
            <a:r>
              <a:rPr lang="zh-TW" altLang="en-US" sz="1600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轉</a:t>
            </a:r>
            <a:r>
              <a:rPr lang="en-US" altLang="zh-TW" sz="1600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HSV</a:t>
            </a:r>
            <a:r>
              <a:rPr lang="zh-TW" altLang="zh-TW" sz="1600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色彩模型</a:t>
            </a:r>
            <a:r>
              <a:rPr lang="zh-TW" altLang="en-US" sz="1600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進行物體顏色</a:t>
            </a:r>
            <a:r>
              <a:rPr lang="en-US" altLang="zh-TW" sz="1600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ROI</a:t>
            </a:r>
            <a:r>
              <a:rPr lang="zh-TW" altLang="en-US" sz="1600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偵測</a:t>
            </a:r>
            <a:endParaRPr lang="zh-TW" altLang="en-US" sz="1600" kern="0" dirty="0">
              <a:solidFill>
                <a:srgbClr val="C00000"/>
              </a:solidFill>
            </a:endParaRPr>
          </a:p>
        </p:txBody>
      </p:sp>
      <p:cxnSp>
        <p:nvCxnSpPr>
          <p:cNvPr id="86" name="直線單箭頭接點 85"/>
          <p:cNvCxnSpPr/>
          <p:nvPr/>
        </p:nvCxnSpPr>
        <p:spPr bwMode="auto">
          <a:xfrm>
            <a:off x="7241100" y="3126198"/>
            <a:ext cx="851830" cy="1149372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6793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2086" y="0"/>
            <a:ext cx="10085827" cy="787690"/>
          </a:xfrm>
        </p:spPr>
        <p:txBody>
          <a:bodyPr/>
          <a:lstStyle/>
          <a:p>
            <a:r>
              <a:rPr lang="en-US" altLang="zh-TW" sz="2800" kern="1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SpeakGrader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：客製化英語口語</a:t>
            </a:r>
            <a:r>
              <a:rPr lang="en-US" altLang="zh-TW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 </a:t>
            </a:r>
            <a:r>
              <a:rPr lang="zh-TW" altLang="en-US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自動分級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評量與回饋學習系統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報名審核表</a:t>
            </a:r>
            <a:r>
              <a:rPr lang="en-US" altLang="zh-TW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_</a:t>
            </a:r>
            <a:r>
              <a:rPr lang="zh-TW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研究報告</a:t>
            </a: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1800" dirty="0"/>
          </a:p>
        </p:txBody>
      </p:sp>
      <p:sp>
        <p:nvSpPr>
          <p:cNvPr id="11" name="矩形 10"/>
          <p:cNvSpPr/>
          <p:nvPr/>
        </p:nvSpPr>
        <p:spPr>
          <a:xfrm>
            <a:off x="477777" y="787690"/>
            <a:ext cx="116329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研發</a:t>
            </a:r>
            <a:r>
              <a:rPr lang="zh-TW" altLang="zh-TW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</a:t>
            </a:r>
            <a:r>
              <a:rPr lang="zh-TW" altLang="zh-TW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視覺化</a:t>
            </a:r>
            <a:r>
              <a:rPr lang="zh-TW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自動化</a:t>
            </a:r>
            <a:r>
              <a:rPr lang="zh-TW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zh-TW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客製化</a:t>
            </a:r>
            <a:r>
              <a:rPr lang="zh-TW" altLang="zh-TW" b="1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一條龍</a:t>
            </a:r>
            <a:r>
              <a:rPr lang="zh-TW" altLang="zh-TW" u="sng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英語</a:t>
            </a:r>
            <a:r>
              <a:rPr lang="zh-TW" altLang="zh-TW" u="sng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口語</a:t>
            </a:r>
            <a:r>
              <a:rPr lang="en-US" altLang="zh-TW" u="sng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zh-TW" u="sng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自動</a:t>
            </a:r>
            <a:r>
              <a:rPr lang="zh-TW" altLang="zh-TW" u="sng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分級評量與回饋學習系統</a:t>
            </a:r>
            <a:r>
              <a:rPr lang="zh-TW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。學習者從</a:t>
            </a:r>
            <a:r>
              <a:rPr lang="zh-TW" altLang="zh-TW" u="sng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英語口語句子閱讀</a:t>
            </a:r>
            <a:r>
              <a:rPr lang="zh-TW" altLang="zh-TW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u="sng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聽力</a:t>
            </a:r>
            <a:r>
              <a:rPr lang="zh-TW" altLang="zh-TW" u="sng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發音練習</a:t>
            </a:r>
            <a:r>
              <a:rPr lang="zh-TW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u="sng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視覺化句子詞彙分級與詞性自動標記</a:t>
            </a:r>
            <a:r>
              <a:rPr lang="zh-TW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u="sng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自動化句子詞彙自動分級評量</a:t>
            </a:r>
            <a:r>
              <a:rPr lang="zh-TW" altLang="zh-TW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zh-TW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</a:t>
            </a:r>
            <a:r>
              <a:rPr lang="zh-TW" altLang="zh-TW" u="sng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分級評量回饋學習</a:t>
            </a:r>
            <a:r>
              <a:rPr lang="zh-TW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只需在本研發系統就可以完成</a:t>
            </a:r>
            <a:r>
              <a:rPr lang="zh-TW" altLang="zh-TW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最終</a:t>
            </a:r>
            <a:r>
              <a:rPr lang="zh-TW" altLang="en-US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zh-TW" altLang="en-US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</a:t>
            </a:r>
            <a:r>
              <a:rPr lang="zh-TW" altLang="en-US" u="sng" kern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循環</a:t>
            </a:r>
            <a:r>
              <a:rPr lang="zh-TW" altLang="en-US" u="sng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的改善流程中逐漸提升學習者口語能力以及學習成效</a:t>
            </a:r>
            <a:r>
              <a:rPr lang="zh-TW" altLang="en-US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/>
          </a:p>
        </p:txBody>
      </p:sp>
      <p:pic>
        <p:nvPicPr>
          <p:cNvPr id="68" name="圖片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0051"/>
            <a:ext cx="12192000" cy="508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6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42" y="1240821"/>
            <a:ext cx="2790182" cy="1486467"/>
          </a:xfrm>
          <a:prstGeom prst="rect">
            <a:avLst/>
          </a:prstGeom>
        </p:spPr>
      </p:pic>
      <p:pic>
        <p:nvPicPr>
          <p:cNvPr id="27" name="圖片 2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186" y="3661937"/>
            <a:ext cx="2926814" cy="1605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282" y="5334408"/>
            <a:ext cx="4827390" cy="149642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5071" y="-110237"/>
            <a:ext cx="10595112" cy="955040"/>
          </a:xfrm>
        </p:spPr>
        <p:txBody>
          <a:bodyPr/>
          <a:lstStyle/>
          <a:p>
            <a:r>
              <a:rPr lang="en-US" altLang="zh-TW" sz="2800" kern="1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SpeakGrader</a:t>
            </a:r>
            <a:r>
              <a:rPr lang="zh-TW" altLang="en-US" sz="1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客製化英語口語</a:t>
            </a:r>
            <a:r>
              <a:rPr lang="en-US" altLang="zh-TW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 </a:t>
            </a:r>
            <a:r>
              <a:rPr lang="zh-TW" altLang="en-US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自動分級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評量與回饋學習</a:t>
            </a:r>
            <a:r>
              <a:rPr lang="zh-TW" altLang="en-US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</a:t>
            </a:r>
            <a:r>
              <a:rPr lang="en-US" altLang="zh-TW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8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zh-TW" altLang="en-US" sz="28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報名審核表</a:t>
            </a:r>
            <a:r>
              <a:rPr lang="en-US" altLang="zh-TW" sz="20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_</a:t>
            </a:r>
            <a:r>
              <a:rPr lang="zh-TW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研究報告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028" y="744649"/>
            <a:ext cx="6363375" cy="377143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2" y="5343848"/>
            <a:ext cx="2743556" cy="1514152"/>
          </a:xfrm>
          <a:prstGeom prst="rect">
            <a:avLst/>
          </a:prstGeom>
        </p:spPr>
      </p:pic>
      <p:pic>
        <p:nvPicPr>
          <p:cNvPr id="9" name="圖片 8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1978" y="1875672"/>
            <a:ext cx="3022153" cy="12117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3892" y="789015"/>
            <a:ext cx="2752737" cy="58477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Azure </a:t>
            </a:r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 </a:t>
            </a:r>
            <a:r>
              <a:rPr lang="zh-TW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TTS </a:t>
            </a:r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語音翻譯與發音評量API 範例Github網站 </a:t>
            </a:r>
            <a:endParaRPr lang="zh-TW" altLang="en-US" sz="16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479257" y="1496433"/>
            <a:ext cx="2344173" cy="338554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altLang="zh-TW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 NLTK </a:t>
            </a:r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斷詞 分</a:t>
            </a:r>
            <a:r>
              <a:rPr lang="zh-TW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詞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6391" y="5234560"/>
            <a:ext cx="4614567" cy="15811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822134" y="4676030"/>
            <a:ext cx="6423222" cy="58477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altLang="zh-TW" sz="1600" kern="0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GloVe</a:t>
            </a:r>
            <a:r>
              <a:rPr lang="zh-TW" altLang="en-US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  <a:r>
              <a:rPr lang="zh-TW" altLang="zh-TW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產生</a:t>
            </a:r>
            <a:r>
              <a:rPr lang="en-US" altLang="zh-TW" sz="1600" kern="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lang="zh-TW" altLang="zh-TW" sz="1600" kern="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維詞</a:t>
            </a:r>
            <a:r>
              <a:rPr lang="zh-TW" altLang="zh-TW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向量</a:t>
            </a:r>
            <a:r>
              <a:rPr lang="zh-TW" altLang="en-US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en-US" altLang="zh-TW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 </a:t>
            </a:r>
            <a:r>
              <a:rPr lang="en-US" altLang="zh-TW" sz="1600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Scikit</a:t>
            </a:r>
            <a:r>
              <a:rPr lang="en-US" altLang="zh-TW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-learn SVM</a:t>
            </a:r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進行詞彙</a:t>
            </a:r>
            <a:r>
              <a:rPr lang="zh-TW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分級自動</a:t>
            </a:r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標記</a:t>
            </a:r>
            <a:r>
              <a:rPr lang="zh-TW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，以混淆矩陣矩陣</a:t>
            </a:r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精確率、召回率、</a:t>
            </a:r>
            <a:r>
              <a:rPr lang="en-US" altLang="zh-TW" sz="16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F1 score</a:t>
            </a:r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進行模型評估</a:t>
            </a:r>
            <a:endParaRPr lang="zh-TW" altLang="en-US" sz="16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166779" y="665436"/>
            <a:ext cx="2953563" cy="830997"/>
          </a:xfrm>
          <a:prstGeom prst="rect">
            <a:avLst/>
          </a:prstGeom>
          <a:solidFill>
            <a:srgbClr val="C000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600" b="1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VC++</a:t>
            </a:r>
            <a:r>
              <a:rPr lang="zh-TW" altLang="zh-TW" sz="1600" b="1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中内嵌</a:t>
            </a:r>
            <a:r>
              <a:rPr lang="en-US" altLang="zh-TW" sz="1600" b="1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 </a:t>
            </a:r>
            <a:r>
              <a:rPr lang="zh-TW" altLang="zh-TW" sz="1600" b="1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直譯器</a:t>
            </a:r>
            <a:r>
              <a:rPr lang="en-US" altLang="zh-TW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sz="1600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讓</a:t>
            </a:r>
            <a:r>
              <a:rPr lang="en-US" altLang="zh-TW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VC++</a:t>
            </a:r>
            <a:r>
              <a:rPr lang="zh-TW" altLang="zh-TW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可以直接調用</a:t>
            </a:r>
            <a:r>
              <a:rPr lang="en-US" altLang="zh-TW" sz="1600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 </a:t>
            </a:r>
            <a:r>
              <a:rPr lang="zh-TW" altLang="en-US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</a:t>
            </a:r>
            <a:r>
              <a:rPr lang="zh-TW" altLang="zh-TW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網路爬蟲技術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-19829" y="4676030"/>
            <a:ext cx="2743556" cy="58477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視覺化顯示單</a:t>
            </a:r>
            <a:endParaRPr lang="en-US" altLang="zh-TW" sz="1600" dirty="0" smtClean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發音評量分數</a:t>
            </a:r>
            <a:endParaRPr lang="en-US" altLang="zh-TW" sz="1600" dirty="0" smtClean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192" y="2720681"/>
            <a:ext cx="2770460" cy="58477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zh-TW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en-US" altLang="zh-TW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XML</a:t>
            </a:r>
            <a:r>
              <a:rPr lang="zh-TW" altLang="zh-TW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標記語言</a:t>
            </a:r>
            <a:r>
              <a:rPr lang="zh-TW" altLang="en-US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</a:t>
            </a:r>
            <a:endParaRPr lang="en-US" altLang="zh-TW" sz="1600" kern="0" dirty="0" smtClean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zh-TW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國英語口音</a:t>
            </a:r>
            <a:r>
              <a:rPr lang="zh-TW" altLang="en-US" sz="1600" kern="0" dirty="0" smtClean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語音合成設定。</a:t>
            </a:r>
            <a:endParaRPr lang="zh-TW" altLang="en-US" sz="16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4" y="3261533"/>
            <a:ext cx="2756930" cy="138719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矩形 24"/>
          <p:cNvSpPr/>
          <p:nvPr/>
        </p:nvSpPr>
        <p:spPr>
          <a:xfrm>
            <a:off x="9166779" y="3194453"/>
            <a:ext cx="3037352" cy="584775"/>
          </a:xfrm>
          <a:prstGeom prst="rect">
            <a:avLst/>
          </a:prstGeom>
          <a:solidFill>
            <a:srgbClr val="C000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自動</a:t>
            </a:r>
            <a:r>
              <a:rPr lang="zh-TW" altLang="en-US" sz="1600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字彙</a:t>
            </a:r>
            <a:r>
              <a:rPr lang="zh-TW" altLang="en-US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分級與詞性</a:t>
            </a:r>
            <a:endParaRPr lang="en-US" altLang="zh-TW" sz="1600" kern="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1600" kern="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比對資料庫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07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57672" y="-222973"/>
            <a:ext cx="9603275" cy="1049235"/>
          </a:xfrm>
        </p:spPr>
        <p:txBody>
          <a:bodyPr/>
          <a:lstStyle/>
          <a:p>
            <a:r>
              <a:rPr lang="zh-TW" altLang="zh-TW" sz="3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學科自主學習跨學科</a:t>
            </a:r>
            <a:r>
              <a:rPr lang="zh-TW" alt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3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跨</a:t>
            </a:r>
            <a:r>
              <a:rPr lang="zh-TW" altLang="zh-TW" sz="36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領域研究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1913" y="800757"/>
            <a:ext cx="114432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108</a:t>
            </a:r>
            <a:r>
              <a:rPr lang="zh-TW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課綱的實施為我提供更多學術探索機會，我會針對</a:t>
            </a:r>
            <a:r>
              <a:rPr lang="zh-TW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高中一些學科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</a:t>
            </a:r>
            <a:r>
              <a:rPr lang="zh-TW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自主學習相關議題跨學科或跨領域研究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表二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為高一、二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課程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學習歷程系統清單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含各</a:t>
            </a:r>
            <a:r>
              <a:rPr lang="zh-TW" altLang="en-US" sz="20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科認證 </a:t>
            </a:r>
            <a:r>
              <a:rPr lang="zh-TW" altLang="en-US" sz="2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老師名單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0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9" y="4765314"/>
            <a:ext cx="11976163" cy="207645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3" y="1757121"/>
            <a:ext cx="11926957" cy="300819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238479" y="1929505"/>
            <a:ext cx="99629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</a:t>
            </a:r>
            <a:r>
              <a:rPr lang="zh-TW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二、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高一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、高二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彭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靖凱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課程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學習歷程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系統清單</a:t>
            </a:r>
            <a:r>
              <a:rPr lang="en-US" altLang="zh-TW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sz="2000" b="1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b="1" kern="100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嘉義高中學習歷程管理平台</a:t>
            </a:r>
            <a:r>
              <a:rPr lang="en-US" altLang="zh-TW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dirty="0"/>
          </a:p>
          <a:p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05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41117" y="-297448"/>
            <a:ext cx="9758921" cy="1049235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zh-TW" altLang="zh-TW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學科自主學習跨學科</a:t>
            </a:r>
            <a:r>
              <a:rPr lang="zh-TW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跨</a:t>
            </a:r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領域</a:t>
            </a:r>
            <a:r>
              <a:rPr lang="zh-TW" altLang="zh-TW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</a:t>
            </a:r>
            <a:r>
              <a:rPr lang="en-US" altLang="zh-TW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37" y="1103418"/>
            <a:ext cx="5304302" cy="284691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700" y="1131420"/>
            <a:ext cx="5152538" cy="289212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700" y="4023544"/>
            <a:ext cx="5152538" cy="283445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</p:pic>
      <p:sp>
        <p:nvSpPr>
          <p:cNvPr id="16" name="矩形 15"/>
          <p:cNvSpPr/>
          <p:nvPr/>
        </p:nvSpPr>
        <p:spPr>
          <a:xfrm>
            <a:off x="689490" y="704945"/>
            <a:ext cx="115025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自主學習</a:t>
            </a:r>
            <a:r>
              <a:rPr lang="zh-TW" altLang="en-US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數學、物理。</a:t>
            </a:r>
            <a:r>
              <a:rPr lang="zh-TW" altLang="en-US" sz="2000" b="1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英文</a:t>
            </a:r>
            <a:r>
              <a:rPr lang="zh-TW" altLang="en-US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、版畫工藝</a:t>
            </a:r>
            <a:r>
              <a:rPr lang="zh-TW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跨學科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跨</a:t>
            </a:r>
            <a:r>
              <a:rPr lang="zh-TW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領域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人文藝術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</a:t>
            </a:r>
            <a:endParaRPr lang="zh-TW" altLang="en-US" sz="20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637" y="3944646"/>
            <a:ext cx="5304302" cy="29133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</p:pic>
      <p:pic>
        <p:nvPicPr>
          <p:cNvPr id="12" name="圖片 11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42" y="4653598"/>
            <a:ext cx="768350" cy="750570"/>
          </a:xfrm>
          <a:prstGeom prst="rect">
            <a:avLst/>
          </a:prstGeom>
        </p:spPr>
      </p:pic>
      <p:pic>
        <p:nvPicPr>
          <p:cNvPr id="13" name="圖片 12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489" y="4653598"/>
            <a:ext cx="745490" cy="7131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288748" y="400157"/>
            <a:ext cx="50770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系所參考資</a:t>
            </a:r>
            <a:r>
              <a:rPr lang="zh-TW" alt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料</a:t>
            </a:r>
            <a:r>
              <a:rPr lang="en-US" altLang="zh-TW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5_</a:t>
            </a:r>
            <a:r>
              <a:rPr lang="zh-TW" altLang="en-US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彭靖凱其他參考資料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565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410" y="1550505"/>
            <a:ext cx="780248" cy="115104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3276" y="-44258"/>
            <a:ext cx="9028112" cy="787822"/>
          </a:xfrm>
        </p:spPr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研習營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系所</a:t>
            </a:r>
            <a:r>
              <a:rPr lang="zh-TW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參考資料</a:t>
            </a:r>
            <a:r>
              <a:rPr lang="en-US" altLang="zh-TW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en-US" altLang="zh-TW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_</a:t>
            </a:r>
            <a:r>
              <a:rPr lang="zh-TW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其他參考</a:t>
            </a:r>
            <a:r>
              <a:rPr lang="zh-TW" altLang="en-US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資料</a:t>
            </a:r>
            <a:r>
              <a:rPr lang="en-US" altLang="zh-TW" sz="1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1400" b="1" dirty="0">
              <a:solidFill>
                <a:srgbClr val="7030A0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37946" y="1036996"/>
            <a:ext cx="4810539" cy="461665"/>
          </a:xfrm>
          <a:prstGeom prst="rect">
            <a:avLst/>
          </a:prstGeom>
          <a:ln/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TTSA</a:t>
            </a:r>
            <a:r>
              <a:rPr kumimoji="0" lang="zh-TW" altLang="en-US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高中校際聯盟探究推理研習營</a:t>
            </a:r>
            <a:r>
              <a:rPr kumimoji="0" lang="zh-TW" altLang="en-US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490" y="3341126"/>
            <a:ext cx="3145532" cy="17782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216" y="2727424"/>
            <a:ext cx="3221655" cy="17782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50793"/>
            <a:ext cx="3617843" cy="18330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矩形 7"/>
          <p:cNvSpPr/>
          <p:nvPr/>
        </p:nvSpPr>
        <p:spPr>
          <a:xfrm>
            <a:off x="6182140" y="914631"/>
            <a:ext cx="5744816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台灣</a:t>
            </a:r>
            <a:r>
              <a:rPr lang="zh-TW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數學奧林匹亞</a:t>
            </a:r>
            <a:r>
              <a:rPr lang="en-US" altLang="zh-TW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_IMO</a:t>
            </a:r>
            <a:r>
              <a:rPr lang="zh-TW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Helvetica" panose="020B0604020202020204" pitchFamily="34" charset="0"/>
              </a:rPr>
              <a:t>雲嘉南教師及學生社群研習課程。</a:t>
            </a:r>
            <a:r>
              <a:rPr lang="zh-TW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zh-TW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書卷 (垂直) 9"/>
          <p:cNvSpPr/>
          <p:nvPr/>
        </p:nvSpPr>
        <p:spPr bwMode="auto">
          <a:xfrm>
            <a:off x="109330" y="5095076"/>
            <a:ext cx="5138531" cy="1693350"/>
          </a:xfrm>
          <a:prstGeom prst="verticalScroll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TW" altLang="zh-TW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結識不同地區優秀高中生</a:t>
            </a:r>
            <a:endParaRPr lang="en-US" altLang="zh-TW" sz="2000" dirty="0" smtClean="0">
              <a:solidFill>
                <a:srgbClr val="00206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TW" altLang="zh-TW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建立之前參加學長</a:t>
            </a:r>
            <a:r>
              <a:rPr lang="zh-TW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姐們的</a:t>
            </a:r>
            <a:r>
              <a:rPr lang="zh-TW" altLang="zh-TW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聯繫</a:t>
            </a:r>
            <a:endParaRPr lang="en-US" altLang="zh-TW" sz="2000" dirty="0" smtClean="0">
              <a:solidFill>
                <a:srgbClr val="00206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TW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加深了對團隊合作的</a:t>
            </a:r>
            <a:r>
              <a:rPr lang="zh-TW" altLang="zh-TW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理解</a:t>
            </a:r>
            <a:endParaRPr lang="en-US" altLang="zh-TW" sz="2000" dirty="0" smtClean="0">
              <a:solidFill>
                <a:srgbClr val="00206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TW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豐富了我的學識，也擴展了我的人際網絡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3927" y="1821411"/>
            <a:ext cx="3824033" cy="193763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5746" y="2999447"/>
            <a:ext cx="3845659" cy="216520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書卷 (垂直) 13"/>
          <p:cNvSpPr/>
          <p:nvPr/>
        </p:nvSpPr>
        <p:spPr bwMode="auto">
          <a:xfrm>
            <a:off x="5864871" y="5164650"/>
            <a:ext cx="6062085" cy="1554202"/>
          </a:xfrm>
          <a:prstGeom prst="verticalScroll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數學原理推導過程與證明方法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數學邏輯的嚴謹性和演繹法推論絕對要求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更清楚了解各種數學基本原理和定義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激發了我思考如何嘗試、探索以釐清問題的本質。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1946" y="1799266"/>
            <a:ext cx="1726488" cy="12166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8" name="群組 17"/>
          <p:cNvGrpSpPr/>
          <p:nvPr/>
        </p:nvGrpSpPr>
        <p:grpSpPr>
          <a:xfrm>
            <a:off x="4273289" y="1745628"/>
            <a:ext cx="3015445" cy="516423"/>
            <a:chOff x="4332850" y="1729982"/>
            <a:chExt cx="3046509" cy="516423"/>
          </a:xfrm>
        </p:grpSpPr>
        <p:sp>
          <p:nvSpPr>
            <p:cNvPr id="11" name="矩形 10"/>
            <p:cNvSpPr/>
            <p:nvPr/>
          </p:nvSpPr>
          <p:spPr>
            <a:xfrm>
              <a:off x="4735313" y="1797871"/>
              <a:ext cx="2236510" cy="400110"/>
            </a:xfrm>
            <a:prstGeom prst="rect">
              <a:avLst/>
            </a:prstGeom>
            <a:solidFill>
              <a:srgbClr val="FF000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zh-TW" altLang="zh-TW" sz="2000" kern="0" dirty="0">
                  <a:solidFill>
                    <a:srgbClr val="FFFDB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學校推薦才能參加</a:t>
              </a:r>
              <a:endParaRPr lang="zh-TW" altLang="en-US" sz="2000" dirty="0">
                <a:solidFill>
                  <a:srgbClr val="FFFDB3"/>
                </a:solidFill>
              </a:endParaRPr>
            </a:p>
          </p:txBody>
        </p:sp>
        <p:sp>
          <p:nvSpPr>
            <p:cNvPr id="16" name="等腰三角形 15"/>
            <p:cNvSpPr/>
            <p:nvPr/>
          </p:nvSpPr>
          <p:spPr bwMode="auto">
            <a:xfrm rot="5400000">
              <a:off x="6927113" y="1794158"/>
              <a:ext cx="496956" cy="407537"/>
            </a:xfrm>
            <a:prstGeom prst="triangle">
              <a:avLst/>
            </a:prstGeom>
            <a:solidFill>
              <a:srgbClr val="FFD5FC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16200000">
              <a:off x="4288141" y="1774691"/>
              <a:ext cx="496956" cy="407537"/>
            </a:xfrm>
            <a:prstGeom prst="triangle">
              <a:avLst/>
            </a:prstGeom>
            <a:solidFill>
              <a:srgbClr val="FFD5FC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184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77550" y="0"/>
            <a:ext cx="9435615" cy="767944"/>
          </a:xfrm>
        </p:spPr>
        <p:txBody>
          <a:bodyPr/>
          <a:lstStyle/>
          <a:p>
            <a:r>
              <a:rPr lang="zh-TW" altLang="zh-TW" b="1" dirty="0"/>
              <a:t>短中</a:t>
            </a:r>
            <a:r>
              <a:rPr lang="zh-TW" altLang="en-US" b="1" dirty="0" smtClean="0"/>
              <a:t>長</a:t>
            </a:r>
            <a:r>
              <a:rPr lang="zh-TW" altLang="zh-TW" b="1" dirty="0" smtClean="0"/>
              <a:t>期</a:t>
            </a:r>
            <a:r>
              <a:rPr lang="zh-TW" altLang="en-US" b="1" dirty="0" smtClean="0"/>
              <a:t>讀書</a:t>
            </a:r>
            <a:r>
              <a:rPr lang="zh-TW" altLang="zh-TW" b="1" dirty="0" smtClean="0"/>
              <a:t>目標</a:t>
            </a:r>
            <a:r>
              <a:rPr lang="zh-TW" altLang="en-US" b="1" dirty="0"/>
              <a:t>與策略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3430" y="1083365"/>
            <a:ext cx="11704013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zh-TW" altLang="en-US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短期目標</a:t>
            </a:r>
            <a:r>
              <a:rPr lang="zh-TW" altLang="en-US" sz="24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策略</a:t>
            </a:r>
            <a:r>
              <a:rPr lang="en-US" altLang="zh-TW" sz="24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多元</a:t>
            </a:r>
            <a:r>
              <a:rPr lang="zh-TW" altLang="en-US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學習，強化基本理論學科，確定未來研究方向</a:t>
            </a:r>
            <a:r>
              <a:rPr lang="en-US" altLang="zh-TW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b="1" kern="1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>
              <a:spcAft>
                <a:spcPts val="600"/>
              </a:spcAft>
            </a:pP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大一和大二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zh-TW" altLang="en-US" sz="24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kern="1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專心</a:t>
            </a:r>
            <a:r>
              <a:rPr lang="zh-TW" altLang="en-US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</a:t>
            </a:r>
            <a:r>
              <a:rPr lang="zh-TW" altLang="en-US" sz="2400" kern="1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課透過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作業</a:t>
            </a:r>
            <a:r>
              <a:rPr lang="zh-TW" altLang="en-US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來更深入地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了解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系上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老師的專業領域</a:t>
            </a:r>
            <a:r>
              <a:rPr lang="zh-TW" altLang="en-US" sz="24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zh-TW" altLang="en-US" sz="2400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確定自己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的專長興趣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。此外，我計劃在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大二時拜訪實驗室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，開始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籌備國科會大專學生研究計畫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，以確定未來的研究方向</a:t>
            </a:r>
            <a:r>
              <a:rPr lang="zh-TW" altLang="en-US" sz="24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kern="1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>
              <a:spcAft>
                <a:spcPts val="600"/>
              </a:spcAft>
            </a:pPr>
            <a:endParaRPr lang="zh-TW" altLang="en-US" sz="2400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zh-TW" altLang="en-US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中期目標</a:t>
            </a:r>
            <a:r>
              <a:rPr lang="zh-TW" altLang="en-US" sz="24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策略</a:t>
            </a:r>
            <a:r>
              <a:rPr lang="en-US" altLang="zh-TW" sz="24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</a:t>
            </a:r>
            <a:r>
              <a:rPr lang="zh-TW" altLang="zh-TW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專題計畫</a:t>
            </a:r>
            <a:r>
              <a:rPr lang="zh-TW" altLang="en-US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增加學術與研究能量</a:t>
            </a:r>
            <a:r>
              <a:rPr lang="en-US" altLang="zh-TW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b="1" kern="1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>
              <a:spcAft>
                <a:spcPts val="600"/>
              </a:spcAft>
            </a:pP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大三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時，我將開始執行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國科會大專學生研究計畫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或其他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專題計畫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，以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增強我的學術和</a:t>
            </a:r>
            <a:r>
              <a:rPr lang="zh-TW" altLang="en-US" sz="2400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研究實作能力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。特別是在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大三下學期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，我將著手規劃攻讀碩士與博士班的</a:t>
            </a:r>
            <a:r>
              <a:rPr lang="zh-TW" altLang="en-US" sz="24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路線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kern="1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>
              <a:spcAft>
                <a:spcPts val="600"/>
              </a:spcAft>
            </a:pPr>
            <a:endParaRPr lang="zh-TW" altLang="en-US" sz="2400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zh-TW" altLang="en-US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長期目標</a:t>
            </a:r>
            <a:r>
              <a:rPr lang="zh-TW" altLang="en-US" sz="24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策略</a:t>
            </a:r>
            <a:r>
              <a:rPr lang="en-US" altLang="zh-TW" sz="24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攻讀</a:t>
            </a:r>
            <a:r>
              <a:rPr lang="zh-TW" altLang="en-US" sz="2400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碩博士班</a:t>
            </a:r>
            <a:r>
              <a:rPr lang="zh-TW" altLang="en-US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取得</a:t>
            </a:r>
            <a:r>
              <a:rPr lang="zh-TW" altLang="zh-TW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博士</a:t>
            </a:r>
            <a:r>
              <a:rPr lang="zh-TW" altLang="en-US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學位</a:t>
            </a:r>
            <a:r>
              <a:rPr lang="en-US" altLang="zh-TW" sz="2400" b="1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b="1" kern="1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>
              <a:spcAft>
                <a:spcPts val="600"/>
              </a:spcAft>
            </a:pP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我的長期目標</a:t>
            </a:r>
            <a:r>
              <a:rPr lang="zh-TW" altLang="en-US" sz="24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r>
              <a:rPr lang="zh-TW" altLang="en-US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取得</a:t>
            </a:r>
            <a:r>
              <a:rPr lang="zh-TW" altLang="zh-TW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博士</a:t>
            </a:r>
            <a:r>
              <a:rPr lang="zh-TW" altLang="en-US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學位</a:t>
            </a:r>
            <a:r>
              <a:rPr lang="zh-TW" altLang="en-US" sz="24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尤其是在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電機相關領域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以獲得博士學位</a:t>
            </a:r>
            <a:r>
              <a:rPr lang="zh-TW" altLang="en-US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。這將是一個長期的學術和研究過程，我期待在這個旅程中不斷成長和取得卓越的成就。</a:t>
            </a:r>
            <a:r>
              <a:rPr lang="en-US" altLang="zh-TW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endParaRPr lang="zh-TW" altLang="zh-TW" sz="24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40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48341" y="10379"/>
            <a:ext cx="9465433" cy="716733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結論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881380"/>
            <a:ext cx="11936896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spcAft>
                <a:spcPts val="600"/>
              </a:spcAft>
            </a:pPr>
            <a:r>
              <a:rPr lang="zh-TW" altLang="en-US" sz="2200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基於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我過去在數理成績和相關研究經驗的表現</a:t>
            </a:r>
            <a:r>
              <a:rPr lang="zh-TW" altLang="en-US" sz="2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，我認為我在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貴系八大領域</a:t>
            </a:r>
            <a:r>
              <a:rPr lang="zh-TW" altLang="en-US" sz="2200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</a:t>
            </a:r>
            <a:r>
              <a:rPr lang="zh-TW" altLang="en-US" sz="2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某些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學科和研究</a:t>
            </a:r>
            <a:r>
              <a:rPr lang="zh-TW" altLang="en-US" sz="2200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領域</a:t>
            </a:r>
            <a:r>
              <a:rPr lang="en-US" altLang="zh-TW" sz="2200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200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如圖</a:t>
            </a:r>
            <a:r>
              <a:rPr lang="en-US" altLang="zh-TW" sz="2200" kern="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2)</a:t>
            </a:r>
            <a:r>
              <a:rPr lang="zh-TW" altLang="en-US" sz="2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</a:t>
            </a:r>
            <a:r>
              <a:rPr lang="zh-TW" altLang="en-US" sz="2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著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潛力</a:t>
            </a:r>
            <a:r>
              <a:rPr lang="zh-TW" altLang="en-US" sz="2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。特別是在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電機資訊領域的發展趨勢中</a:t>
            </a:r>
            <a:r>
              <a:rPr lang="zh-TW" altLang="en-US" sz="2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重視跨領域整合應用和系統最佳化</a:t>
            </a:r>
            <a:r>
              <a:rPr lang="zh-TW" altLang="en-US" sz="2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這正是我的研究所關注的方向之一</a:t>
            </a:r>
            <a:r>
              <a:rPr lang="zh-TW" altLang="en-US" sz="2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我熱愛學習相關知識和技能</a:t>
            </a:r>
            <a:r>
              <a:rPr lang="zh-TW" altLang="en-US" sz="2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並有著深厚的興趣</a:t>
            </a:r>
            <a:r>
              <a:rPr lang="zh-TW" altLang="en-US" sz="2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200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>
              <a:spcAft>
                <a:spcPts val="600"/>
              </a:spcAft>
            </a:pPr>
            <a:r>
              <a:rPr lang="zh-TW" altLang="en-US" sz="2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因此，綜合這些因素</a:t>
            </a:r>
            <a:r>
              <a:rPr lang="zh-TW" altLang="en-US" sz="2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我堅信自己是貴系特殊選才計劃的理想選擇</a:t>
            </a:r>
            <a:r>
              <a:rPr lang="zh-TW" altLang="en-US" sz="2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2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我期待著有機會成為貴校電機系的一名學生，並貢獻我的熱情和才能。我相信未來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zh-TW" altLang="en-US" sz="2200" u="sng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貴系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的學習將延續我的過去經驗、興趣和成就</a:t>
            </a:r>
            <a:r>
              <a:rPr lang="zh-TW" altLang="en-US" sz="2200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200" u="sng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讓我在將來這個電機領域中取得非凡的成就。</a:t>
            </a:r>
            <a:endParaRPr lang="zh-TW" altLang="zh-TW" sz="2200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1" y="3267028"/>
            <a:ext cx="4291359" cy="315291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551650" y="6445314"/>
            <a:ext cx="83936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圖</a:t>
            </a:r>
            <a:r>
              <a:rPr lang="en-US" altLang="zh-TW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、成大電機</a:t>
            </a:r>
            <a:r>
              <a:rPr lang="zh-TW" altLang="en-US" sz="2000" b="1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</a:t>
            </a:r>
            <a:r>
              <a:rPr lang="zh-TW" altLang="zh-TW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八大領域</a:t>
            </a:r>
            <a:r>
              <a:rPr lang="zh-TW" altLang="en-US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相關研究與課程地圖</a:t>
            </a:r>
            <a:r>
              <a:rPr lang="en-US" altLang="zh-TW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資料來源</a:t>
            </a:r>
            <a:r>
              <a:rPr lang="en-US" altLang="zh-TW" sz="2000" b="1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成大</a:t>
            </a:r>
            <a:r>
              <a:rPr lang="zh-TW" altLang="en-US" sz="2000" b="1" kern="100" dirty="0" smtClean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電機網站</a:t>
            </a:r>
            <a:r>
              <a:rPr lang="en-US" altLang="zh-TW" sz="2000" b="1" kern="1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dirty="0"/>
          </a:p>
        </p:txBody>
      </p:sp>
      <p:grpSp>
        <p:nvGrpSpPr>
          <p:cNvPr id="9" name="群組 8"/>
          <p:cNvGrpSpPr/>
          <p:nvPr/>
        </p:nvGrpSpPr>
        <p:grpSpPr>
          <a:xfrm>
            <a:off x="4307840" y="3267028"/>
            <a:ext cx="6929120" cy="3086332"/>
            <a:chOff x="4704917" y="3208557"/>
            <a:chExt cx="7106083" cy="3236757"/>
          </a:xfrm>
        </p:grpSpPr>
        <p:pic>
          <p:nvPicPr>
            <p:cNvPr id="10" name="圖片 9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396" y="3208557"/>
              <a:ext cx="7045123" cy="876300"/>
            </a:xfrm>
            <a:prstGeom prst="rect">
              <a:avLst/>
            </a:prstGeom>
          </p:spPr>
        </p:pic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04917" y="4084857"/>
              <a:ext cx="7106083" cy="23604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273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6431</TotalTime>
  <Words>1916</Words>
  <Application>Microsoft Office PowerPoint</Application>
  <PresentationFormat>寬螢幕</PresentationFormat>
  <Paragraphs>134</Paragraphs>
  <Slides>15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4" baseType="lpstr">
      <vt:lpstr>微軟正黑體</vt:lpstr>
      <vt:lpstr>新細明體</vt:lpstr>
      <vt:lpstr>標楷體</vt:lpstr>
      <vt:lpstr>Arial</vt:lpstr>
      <vt:lpstr>Calibri</vt:lpstr>
      <vt:lpstr>Helvetica</vt:lpstr>
      <vt:lpstr>Times New Roman</vt:lpstr>
      <vt:lpstr>Wingdings</vt:lpstr>
      <vt:lpstr>3_預設簡報設計</vt:lpstr>
      <vt:lpstr>PowerPoint 簡報</vt:lpstr>
      <vt:lpstr>前言</vt:lpstr>
      <vt:lpstr>大綱</vt:lpstr>
      <vt:lpstr>嘉中數資班數理相關科目成績表現 (資料來源: 系所參考資料1_彭靖凱高中歷年在校成績證明)</vt:lpstr>
      <vt:lpstr>跨領域及軟硬體整合應用研究 (資料來源: 系所參考資料4_競賽成果成果作品證明)</vt:lpstr>
      <vt:lpstr>跨領域及軟硬體整合應用研究_競賽成果 (資料來源: 系所參考資料4_競賽成果成果作品證明)</vt:lpstr>
      <vt:lpstr>客製化互動式人機觸-聲雙控介面之雲端智慧語音獵犬機器人 (資料來源: 系所參考資料4_競賽成果成果作品)</vt:lpstr>
      <vt:lpstr>客製化互動式人機觸-聲雙控介面之雲端智慧語音獵犬機器人(續) (資料來源: 系所參考資料4_競賽成果成果作品)</vt:lpstr>
      <vt:lpstr>SpeakGrader：客製化英語口語AI 自動分級評量與回饋學習系統 (資料來源:報名審核表_研究報告)</vt:lpstr>
      <vt:lpstr>SpeakGrader：客製化英語口語AI 自動分級評量與回饋學習系統(續) (資料來源:報名審核表_研究報告)</vt:lpstr>
      <vt:lpstr>學科自主學習跨學科、跨領域研究</vt:lpstr>
      <vt:lpstr>學科自主學習跨學科、跨領域研究(續)</vt:lpstr>
      <vt:lpstr>課外研習營 (資料來源: 系所參考資料5_其他參考資料)</vt:lpstr>
      <vt:lpstr>短中長期讀書目標與策略</vt:lpstr>
      <vt:lpstr>結論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ASUS</dc:creator>
  <cp:lastModifiedBy>user</cp:lastModifiedBy>
  <cp:revision>272</cp:revision>
  <cp:lastPrinted>2019-11-01T14:18:32Z</cp:lastPrinted>
  <dcterms:created xsi:type="dcterms:W3CDTF">2019-10-31T06:14:02Z</dcterms:created>
  <dcterms:modified xsi:type="dcterms:W3CDTF">2023-11-14T07:29:33Z</dcterms:modified>
</cp:coreProperties>
</file>